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82e95b020e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82e95b020e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82e95b020e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82e95b020e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82e95b020e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82e95b020e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82e95b020e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82e95b020e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82e95b020e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82e95b020e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82e95b020e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82e95b020e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82e95b020e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82e95b020e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82e95b020e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82e95b020e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791fe68364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791fe68364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791fe68364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791fe68364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791fe68364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791fe68364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791fe68364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791fe68364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791fe68364_0_2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791fe68364_0_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www.kaggle.com/datasets/arashnic/fitbit"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256908" y="87392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latin typeface="Times New Roman"/>
                <a:ea typeface="Times New Roman"/>
                <a:cs typeface="Times New Roman"/>
                <a:sym typeface="Times New Roman"/>
              </a:rPr>
              <a:t>STRAVA Fitness Data Analytics</a:t>
            </a:r>
            <a:endParaRPr>
              <a:latin typeface="Times New Roman"/>
              <a:ea typeface="Times New Roman"/>
              <a:cs typeface="Times New Roman"/>
              <a:sym typeface="Times New Roman"/>
            </a:endParaRPr>
          </a:p>
        </p:txBody>
      </p:sp>
      <p:sp>
        <p:nvSpPr>
          <p:cNvPr id="55" name="Google Shape;55;p13"/>
          <p:cNvSpPr txBox="1"/>
          <p:nvPr>
            <p:ph idx="1" type="subTitle"/>
          </p:nvPr>
        </p:nvSpPr>
        <p:spPr>
          <a:xfrm>
            <a:off x="311700" y="3203450"/>
            <a:ext cx="8520600" cy="792600"/>
          </a:xfrm>
          <a:prstGeom prst="rect">
            <a:avLst/>
          </a:prstGeom>
        </p:spPr>
        <p:txBody>
          <a:bodyPr anchorCtr="0" anchor="t" bIns="91425" lIns="91425" spcFirstLastPara="1" rIns="91425" wrap="square" tIns="91425">
            <a:normAutofit/>
          </a:bodyPr>
          <a:lstStyle/>
          <a:p>
            <a:pPr indent="0" lvl="0" marL="0" rtl="0" algn="l">
              <a:lnSpc>
                <a:spcPct val="80000"/>
              </a:lnSpc>
              <a:spcBef>
                <a:spcPts val="0"/>
              </a:spcBef>
              <a:spcAft>
                <a:spcPts val="0"/>
              </a:spcAft>
              <a:buSzPts val="935"/>
              <a:buNone/>
            </a:pPr>
            <a:r>
              <a:rPr lang="en" sz="2180"/>
              <a:t>Case Study: Analysis of steps, calories, heart rate, sleep &amp; weight</a:t>
            </a:r>
            <a:endParaRPr sz="2180"/>
          </a:p>
        </p:txBody>
      </p:sp>
      <p:pic>
        <p:nvPicPr>
          <p:cNvPr id="56" name="Google Shape;56;p13"/>
          <p:cNvPicPr preferRelativeResize="0"/>
          <p:nvPr/>
        </p:nvPicPr>
        <p:blipFill rotWithShape="1">
          <a:blip r:embed="rId3">
            <a:alphaModFix/>
          </a:blip>
          <a:srcRect b="0" l="0" r="0" t="0"/>
          <a:stretch/>
        </p:blipFill>
        <p:spPr>
          <a:xfrm>
            <a:off x="0" y="-89300"/>
            <a:ext cx="9144003" cy="523279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idx="1" type="body"/>
          </p:nvPr>
        </p:nvSpPr>
        <p:spPr>
          <a:xfrm>
            <a:off x="311700" y="225200"/>
            <a:ext cx="8520600" cy="4753800"/>
          </a:xfrm>
          <a:prstGeom prst="rect">
            <a:avLst/>
          </a:prstGeom>
        </p:spPr>
        <p:txBody>
          <a:bodyPr anchorCtr="0" anchor="t" bIns="91425" lIns="91425" spcFirstLastPara="1" rIns="91425" wrap="square" tIns="91425">
            <a:noAutofit/>
          </a:bodyPr>
          <a:lstStyle/>
          <a:p>
            <a:pPr indent="-311150" lvl="0" marL="457200" marR="203200" rtl="0" algn="l">
              <a:lnSpc>
                <a:spcPct val="95000"/>
              </a:lnSpc>
              <a:spcBef>
                <a:spcPts val="2400"/>
              </a:spcBef>
              <a:spcAft>
                <a:spcPts val="0"/>
              </a:spcAft>
              <a:buClr>
                <a:schemeClr val="dk1"/>
              </a:buClr>
              <a:buSzPts val="1300"/>
              <a:buFont typeface="Times New Roman"/>
              <a:buChar char="➢"/>
            </a:pPr>
            <a:r>
              <a:rPr b="1" lang="en" sz="1300">
                <a:solidFill>
                  <a:schemeClr val="dk1"/>
                </a:solidFill>
                <a:highlight>
                  <a:srgbClr val="FFFFFF"/>
                </a:highlight>
                <a:latin typeface="Times New Roman"/>
                <a:ea typeface="Times New Roman"/>
                <a:cs typeface="Times New Roman"/>
                <a:sym typeface="Times New Roman"/>
              </a:rPr>
              <a:t>1. </a:t>
            </a:r>
            <a:r>
              <a:rPr b="1" lang="en" sz="1300">
                <a:solidFill>
                  <a:schemeClr val="dk1"/>
                </a:solidFill>
                <a:highlight>
                  <a:srgbClr val="FFFFFF"/>
                </a:highlight>
                <a:latin typeface="Times New Roman"/>
                <a:ea typeface="Times New Roman"/>
                <a:cs typeface="Times New Roman"/>
                <a:sym typeface="Times New Roman"/>
              </a:rPr>
              <a:t>Company Summary</a:t>
            </a:r>
            <a:endParaRPr b="1" sz="1300">
              <a:solidFill>
                <a:schemeClr val="dk1"/>
              </a:solidFill>
              <a:highlight>
                <a:srgbClr val="FFFFFF"/>
              </a:highlight>
              <a:latin typeface="Times New Roman"/>
              <a:ea typeface="Times New Roman"/>
              <a:cs typeface="Times New Roman"/>
              <a:sym typeface="Times New Roman"/>
            </a:endParaRPr>
          </a:p>
          <a:p>
            <a:pPr indent="-311150" lvl="2" marL="1371600" marR="203200" rtl="0" algn="l">
              <a:lnSpc>
                <a:spcPct val="95000"/>
              </a:lnSpc>
              <a:spcBef>
                <a:spcPts val="0"/>
              </a:spcBef>
              <a:spcAft>
                <a:spcPts val="0"/>
              </a:spcAft>
              <a:buSzPts val="1300"/>
              <a:buFont typeface="Times New Roman"/>
              <a:buChar char="■"/>
            </a:pPr>
            <a:r>
              <a:rPr b="1" lang="en" sz="1300">
                <a:highlight>
                  <a:srgbClr val="FFFFFF"/>
                </a:highlight>
                <a:latin typeface="Times New Roman"/>
                <a:ea typeface="Times New Roman"/>
                <a:cs typeface="Times New Roman"/>
                <a:sym typeface="Times New Roman"/>
              </a:rPr>
              <a:t>1.1 Background</a:t>
            </a:r>
            <a:endParaRPr b="1" sz="1300">
              <a:highlight>
                <a:srgbClr val="FFFFFF"/>
              </a:highlight>
              <a:latin typeface="Times New Roman"/>
              <a:ea typeface="Times New Roman"/>
              <a:cs typeface="Times New Roman"/>
              <a:sym typeface="Times New Roman"/>
            </a:endParaRPr>
          </a:p>
          <a:p>
            <a:pPr indent="-311150" lvl="2" marL="1371600" marR="203200" rtl="0" algn="l">
              <a:lnSpc>
                <a:spcPct val="95000"/>
              </a:lnSpc>
              <a:spcBef>
                <a:spcPts val="0"/>
              </a:spcBef>
              <a:spcAft>
                <a:spcPts val="0"/>
              </a:spcAft>
              <a:buSzPts val="1300"/>
              <a:buFont typeface="Times New Roman"/>
              <a:buChar char="■"/>
            </a:pPr>
            <a:r>
              <a:rPr b="1" lang="en" sz="1300">
                <a:highlight>
                  <a:srgbClr val="FFFFFF"/>
                </a:highlight>
                <a:latin typeface="Times New Roman"/>
                <a:ea typeface="Times New Roman"/>
                <a:cs typeface="Times New Roman"/>
                <a:sym typeface="Times New Roman"/>
              </a:rPr>
              <a:t>1.2 Products</a:t>
            </a:r>
            <a:endParaRPr b="1" sz="1300">
              <a:highlight>
                <a:srgbClr val="FFFFFF"/>
              </a:highlight>
              <a:latin typeface="Times New Roman"/>
              <a:ea typeface="Times New Roman"/>
              <a:cs typeface="Times New Roman"/>
              <a:sym typeface="Times New Roman"/>
            </a:endParaRPr>
          </a:p>
          <a:p>
            <a:pPr indent="-311150" lvl="0" marL="457200" marR="203200" rtl="0" algn="l">
              <a:lnSpc>
                <a:spcPct val="95000"/>
              </a:lnSpc>
              <a:spcBef>
                <a:spcPts val="0"/>
              </a:spcBef>
              <a:spcAft>
                <a:spcPts val="0"/>
              </a:spcAft>
              <a:buClr>
                <a:schemeClr val="dk1"/>
              </a:buClr>
              <a:buSzPts val="1300"/>
              <a:buFont typeface="Times New Roman"/>
              <a:buChar char="➢"/>
            </a:pPr>
            <a:r>
              <a:rPr b="1" lang="en" sz="1300">
                <a:solidFill>
                  <a:schemeClr val="dk1"/>
                </a:solidFill>
                <a:highlight>
                  <a:srgbClr val="FFFFFF"/>
                </a:highlight>
                <a:latin typeface="Times New Roman"/>
                <a:ea typeface="Times New Roman"/>
                <a:cs typeface="Times New Roman"/>
                <a:sym typeface="Times New Roman"/>
              </a:rPr>
              <a:t>2. Ask Section</a:t>
            </a:r>
            <a:endParaRPr b="1" sz="1300">
              <a:solidFill>
                <a:schemeClr val="dk1"/>
              </a:solidFill>
              <a:highlight>
                <a:srgbClr val="FFFFFF"/>
              </a:highlight>
              <a:latin typeface="Times New Roman"/>
              <a:ea typeface="Times New Roman"/>
              <a:cs typeface="Times New Roman"/>
              <a:sym typeface="Times New Roman"/>
            </a:endParaRPr>
          </a:p>
          <a:p>
            <a:pPr indent="-311150" lvl="2" marL="1371600" marR="203200" rtl="0" algn="l">
              <a:lnSpc>
                <a:spcPct val="95000"/>
              </a:lnSpc>
              <a:spcBef>
                <a:spcPts val="0"/>
              </a:spcBef>
              <a:spcAft>
                <a:spcPts val="0"/>
              </a:spcAft>
              <a:buSzPts val="1300"/>
              <a:buFont typeface="Times New Roman"/>
              <a:buChar char="■"/>
            </a:pPr>
            <a:r>
              <a:rPr b="1" lang="en" sz="1300">
                <a:highlight>
                  <a:srgbClr val="FFFFFF"/>
                </a:highlight>
                <a:latin typeface="Times New Roman"/>
                <a:ea typeface="Times New Roman"/>
                <a:cs typeface="Times New Roman"/>
                <a:sym typeface="Times New Roman"/>
              </a:rPr>
              <a:t>2.1 Business Task</a:t>
            </a:r>
            <a:endParaRPr b="1" sz="1300">
              <a:highlight>
                <a:srgbClr val="FFFFFF"/>
              </a:highlight>
              <a:latin typeface="Times New Roman"/>
              <a:ea typeface="Times New Roman"/>
              <a:cs typeface="Times New Roman"/>
              <a:sym typeface="Times New Roman"/>
            </a:endParaRPr>
          </a:p>
          <a:p>
            <a:pPr indent="-311150" lvl="2" marL="1371600" marR="203200" rtl="0" algn="l">
              <a:lnSpc>
                <a:spcPct val="95000"/>
              </a:lnSpc>
              <a:spcBef>
                <a:spcPts val="0"/>
              </a:spcBef>
              <a:spcAft>
                <a:spcPts val="0"/>
              </a:spcAft>
              <a:buSzPts val="1300"/>
              <a:buFont typeface="Times New Roman"/>
              <a:buChar char="■"/>
            </a:pPr>
            <a:r>
              <a:rPr b="1" lang="en" sz="1300">
                <a:highlight>
                  <a:srgbClr val="FFFFFF"/>
                </a:highlight>
                <a:latin typeface="Times New Roman"/>
                <a:ea typeface="Times New Roman"/>
                <a:cs typeface="Times New Roman"/>
                <a:sym typeface="Times New Roman"/>
              </a:rPr>
              <a:t>2.2 Stakeholders</a:t>
            </a:r>
            <a:endParaRPr b="1" sz="1300">
              <a:highlight>
                <a:srgbClr val="FFFFFF"/>
              </a:highlight>
              <a:latin typeface="Times New Roman"/>
              <a:ea typeface="Times New Roman"/>
              <a:cs typeface="Times New Roman"/>
              <a:sym typeface="Times New Roman"/>
            </a:endParaRPr>
          </a:p>
          <a:p>
            <a:pPr indent="-311150" lvl="0" marL="457200" marR="203200" rtl="0" algn="l">
              <a:lnSpc>
                <a:spcPct val="95000"/>
              </a:lnSpc>
              <a:spcBef>
                <a:spcPts val="0"/>
              </a:spcBef>
              <a:spcAft>
                <a:spcPts val="0"/>
              </a:spcAft>
              <a:buClr>
                <a:schemeClr val="dk1"/>
              </a:buClr>
              <a:buSzPts val="1300"/>
              <a:buFont typeface="Times New Roman"/>
              <a:buChar char="➢"/>
            </a:pPr>
            <a:r>
              <a:rPr b="1" lang="en" sz="1300">
                <a:solidFill>
                  <a:schemeClr val="dk1"/>
                </a:solidFill>
                <a:highlight>
                  <a:srgbClr val="FFFFFF"/>
                </a:highlight>
                <a:latin typeface="Times New Roman"/>
                <a:ea typeface="Times New Roman"/>
                <a:cs typeface="Times New Roman"/>
                <a:sym typeface="Times New Roman"/>
              </a:rPr>
              <a:t>3. </a:t>
            </a:r>
            <a:r>
              <a:rPr b="1" lang="en" sz="1300">
                <a:solidFill>
                  <a:schemeClr val="dk1"/>
                </a:solidFill>
                <a:highlight>
                  <a:srgbClr val="FFFFFF"/>
                </a:highlight>
                <a:latin typeface="Times New Roman"/>
                <a:ea typeface="Times New Roman"/>
                <a:cs typeface="Times New Roman"/>
                <a:sym typeface="Times New Roman"/>
              </a:rPr>
              <a:t>Prepare</a:t>
            </a:r>
            <a:r>
              <a:rPr b="1" lang="en" sz="1300">
                <a:solidFill>
                  <a:schemeClr val="dk1"/>
                </a:solidFill>
                <a:highlight>
                  <a:srgbClr val="FFFFFF"/>
                </a:highlight>
                <a:latin typeface="Times New Roman"/>
                <a:ea typeface="Times New Roman"/>
                <a:cs typeface="Times New Roman"/>
                <a:sym typeface="Times New Roman"/>
              </a:rPr>
              <a:t> Section</a:t>
            </a:r>
            <a:endParaRPr b="1" sz="1300">
              <a:solidFill>
                <a:schemeClr val="dk1"/>
              </a:solidFill>
              <a:highlight>
                <a:srgbClr val="FFFFFF"/>
              </a:highlight>
              <a:latin typeface="Times New Roman"/>
              <a:ea typeface="Times New Roman"/>
              <a:cs typeface="Times New Roman"/>
              <a:sym typeface="Times New Roman"/>
            </a:endParaRPr>
          </a:p>
          <a:p>
            <a:pPr indent="-311150" lvl="2" marL="1371600" marR="203200" rtl="0" algn="l">
              <a:lnSpc>
                <a:spcPct val="95000"/>
              </a:lnSpc>
              <a:spcBef>
                <a:spcPts val="0"/>
              </a:spcBef>
              <a:spcAft>
                <a:spcPts val="0"/>
              </a:spcAft>
              <a:buSzPts val="1300"/>
              <a:buFont typeface="Times New Roman"/>
              <a:buChar char="■"/>
            </a:pPr>
            <a:r>
              <a:rPr b="1" lang="en" sz="1300">
                <a:highlight>
                  <a:srgbClr val="FFFFFF"/>
                </a:highlight>
                <a:latin typeface="Times New Roman"/>
                <a:ea typeface="Times New Roman"/>
                <a:cs typeface="Times New Roman"/>
                <a:sym typeface="Times New Roman"/>
              </a:rPr>
              <a:t>3.1 Data Used</a:t>
            </a:r>
            <a:endParaRPr b="1" sz="1300">
              <a:highlight>
                <a:srgbClr val="FFFFFF"/>
              </a:highlight>
              <a:latin typeface="Times New Roman"/>
              <a:ea typeface="Times New Roman"/>
              <a:cs typeface="Times New Roman"/>
              <a:sym typeface="Times New Roman"/>
            </a:endParaRPr>
          </a:p>
          <a:p>
            <a:pPr indent="-311150" lvl="2" marL="1371600" marR="203200" rtl="0" algn="l">
              <a:lnSpc>
                <a:spcPct val="95000"/>
              </a:lnSpc>
              <a:spcBef>
                <a:spcPts val="0"/>
              </a:spcBef>
              <a:spcAft>
                <a:spcPts val="0"/>
              </a:spcAft>
              <a:buSzPts val="1300"/>
              <a:buFont typeface="Times New Roman"/>
              <a:buChar char="■"/>
            </a:pPr>
            <a:r>
              <a:rPr b="1" lang="en" sz="1300">
                <a:highlight>
                  <a:srgbClr val="FFFFFF"/>
                </a:highlight>
                <a:latin typeface="Times New Roman"/>
                <a:ea typeface="Times New Roman"/>
                <a:cs typeface="Times New Roman"/>
                <a:sym typeface="Times New Roman"/>
              </a:rPr>
              <a:t>3.2 Data Summary</a:t>
            </a:r>
            <a:endParaRPr b="1" sz="1300">
              <a:highlight>
                <a:srgbClr val="FFFFFF"/>
              </a:highlight>
              <a:latin typeface="Times New Roman"/>
              <a:ea typeface="Times New Roman"/>
              <a:cs typeface="Times New Roman"/>
              <a:sym typeface="Times New Roman"/>
            </a:endParaRPr>
          </a:p>
          <a:p>
            <a:pPr indent="-311150" lvl="0" marL="457200" marR="203200" rtl="0" algn="l">
              <a:lnSpc>
                <a:spcPct val="95000"/>
              </a:lnSpc>
              <a:spcBef>
                <a:spcPts val="0"/>
              </a:spcBef>
              <a:spcAft>
                <a:spcPts val="0"/>
              </a:spcAft>
              <a:buSzPts val="1300"/>
              <a:buFont typeface="Times New Roman"/>
              <a:buChar char="➢"/>
            </a:pPr>
            <a:r>
              <a:rPr b="1" lang="en" sz="1300">
                <a:solidFill>
                  <a:schemeClr val="dk1"/>
                </a:solidFill>
                <a:highlight>
                  <a:srgbClr val="FFFFFF"/>
                </a:highlight>
                <a:latin typeface="Times New Roman"/>
                <a:ea typeface="Times New Roman"/>
                <a:cs typeface="Times New Roman"/>
                <a:sym typeface="Times New Roman"/>
              </a:rPr>
              <a:t>4. Process Section</a:t>
            </a:r>
            <a:endParaRPr b="1" sz="1300">
              <a:highlight>
                <a:srgbClr val="FFFFFF"/>
              </a:highlight>
              <a:latin typeface="Times New Roman"/>
              <a:ea typeface="Times New Roman"/>
              <a:cs typeface="Times New Roman"/>
              <a:sym typeface="Times New Roman"/>
            </a:endParaRPr>
          </a:p>
          <a:p>
            <a:pPr indent="-311150" lvl="2" marL="1371600" marR="203200" rtl="0" algn="l">
              <a:lnSpc>
                <a:spcPct val="95000"/>
              </a:lnSpc>
              <a:spcBef>
                <a:spcPts val="0"/>
              </a:spcBef>
              <a:spcAft>
                <a:spcPts val="0"/>
              </a:spcAft>
              <a:buSzPts val="1300"/>
              <a:buFont typeface="Times New Roman"/>
              <a:buChar char="■"/>
            </a:pPr>
            <a:r>
              <a:rPr b="1" lang="en" sz="1300">
                <a:highlight>
                  <a:srgbClr val="FFFFFF"/>
                </a:highlight>
                <a:latin typeface="Times New Roman"/>
                <a:ea typeface="Times New Roman"/>
                <a:cs typeface="Times New Roman"/>
                <a:sym typeface="Times New Roman"/>
              </a:rPr>
              <a:t>4.1 Datasets Used</a:t>
            </a:r>
            <a:endParaRPr b="1" sz="1300">
              <a:highlight>
                <a:srgbClr val="FFFFFF"/>
              </a:highlight>
              <a:latin typeface="Times New Roman"/>
              <a:ea typeface="Times New Roman"/>
              <a:cs typeface="Times New Roman"/>
              <a:sym typeface="Times New Roman"/>
            </a:endParaRPr>
          </a:p>
          <a:p>
            <a:pPr indent="-311150" lvl="2" marL="1371600" marR="203200" rtl="0" algn="l">
              <a:lnSpc>
                <a:spcPct val="95000"/>
              </a:lnSpc>
              <a:spcBef>
                <a:spcPts val="0"/>
              </a:spcBef>
              <a:spcAft>
                <a:spcPts val="0"/>
              </a:spcAft>
              <a:buSzPts val="1300"/>
              <a:buFont typeface="Times New Roman"/>
              <a:buChar char="■"/>
            </a:pPr>
            <a:r>
              <a:rPr b="1" lang="en" sz="1300">
                <a:highlight>
                  <a:srgbClr val="FFFFFF"/>
                </a:highlight>
                <a:latin typeface="Times New Roman"/>
                <a:ea typeface="Times New Roman"/>
                <a:cs typeface="Times New Roman"/>
                <a:sym typeface="Times New Roman"/>
              </a:rPr>
              <a:t>4.2 Excel Process to Clean Data</a:t>
            </a:r>
            <a:endParaRPr b="1" sz="1300">
              <a:highlight>
                <a:srgbClr val="FFFFFF"/>
              </a:highlight>
              <a:latin typeface="Times New Roman"/>
              <a:ea typeface="Times New Roman"/>
              <a:cs typeface="Times New Roman"/>
              <a:sym typeface="Times New Roman"/>
            </a:endParaRPr>
          </a:p>
          <a:p>
            <a:pPr indent="-311150" lvl="2" marL="1371600" marR="203200" rtl="0" algn="l">
              <a:lnSpc>
                <a:spcPct val="95000"/>
              </a:lnSpc>
              <a:spcBef>
                <a:spcPts val="0"/>
              </a:spcBef>
              <a:spcAft>
                <a:spcPts val="0"/>
              </a:spcAft>
              <a:buSzPts val="1300"/>
              <a:buFont typeface="Times New Roman"/>
              <a:buChar char="■"/>
            </a:pPr>
            <a:r>
              <a:rPr b="1" lang="en" sz="1300">
                <a:highlight>
                  <a:srgbClr val="FFFFFF"/>
                </a:highlight>
                <a:latin typeface="Times New Roman"/>
                <a:ea typeface="Times New Roman"/>
                <a:cs typeface="Times New Roman"/>
                <a:sym typeface="Times New Roman"/>
              </a:rPr>
              <a:t>4.3 Next Steps</a:t>
            </a:r>
            <a:endParaRPr b="1" sz="1300">
              <a:highlight>
                <a:srgbClr val="FFFFFF"/>
              </a:highlight>
              <a:latin typeface="Times New Roman"/>
              <a:ea typeface="Times New Roman"/>
              <a:cs typeface="Times New Roman"/>
              <a:sym typeface="Times New Roman"/>
            </a:endParaRPr>
          </a:p>
          <a:p>
            <a:pPr indent="-311150" lvl="0" marL="457200" marR="203200" rtl="0" algn="l">
              <a:lnSpc>
                <a:spcPct val="95000"/>
              </a:lnSpc>
              <a:spcBef>
                <a:spcPts val="0"/>
              </a:spcBef>
              <a:spcAft>
                <a:spcPts val="0"/>
              </a:spcAft>
              <a:buSzPts val="1300"/>
              <a:buFont typeface="Times New Roman"/>
              <a:buChar char="➢"/>
            </a:pPr>
            <a:r>
              <a:rPr b="1" lang="en" sz="1300">
                <a:solidFill>
                  <a:schemeClr val="dk1"/>
                </a:solidFill>
                <a:highlight>
                  <a:srgbClr val="FFFFFF"/>
                </a:highlight>
                <a:latin typeface="Times New Roman"/>
                <a:ea typeface="Times New Roman"/>
                <a:cs typeface="Times New Roman"/>
                <a:sym typeface="Times New Roman"/>
              </a:rPr>
              <a:t>5. Analyze Section</a:t>
            </a:r>
            <a:endParaRPr b="1" sz="1300">
              <a:solidFill>
                <a:schemeClr val="dk1"/>
              </a:solidFill>
              <a:highlight>
                <a:srgbClr val="FFFFFF"/>
              </a:highlight>
              <a:latin typeface="Times New Roman"/>
              <a:ea typeface="Times New Roman"/>
              <a:cs typeface="Times New Roman"/>
              <a:sym typeface="Times New Roman"/>
            </a:endParaRPr>
          </a:p>
          <a:p>
            <a:pPr indent="-311150" lvl="2" marL="1371600" marR="203200" rtl="0" algn="l">
              <a:lnSpc>
                <a:spcPct val="95000"/>
              </a:lnSpc>
              <a:spcBef>
                <a:spcPts val="0"/>
              </a:spcBef>
              <a:spcAft>
                <a:spcPts val="0"/>
              </a:spcAft>
              <a:buSzPts val="1300"/>
              <a:buFont typeface="Times New Roman"/>
              <a:buChar char="■"/>
            </a:pPr>
            <a:r>
              <a:rPr b="1" lang="en" sz="1300">
                <a:highlight>
                  <a:srgbClr val="FFFFFF"/>
                </a:highlight>
                <a:latin typeface="Times New Roman"/>
                <a:ea typeface="Times New Roman"/>
                <a:cs typeface="Times New Roman"/>
                <a:sym typeface="Times New Roman"/>
              </a:rPr>
              <a:t>5.1 </a:t>
            </a:r>
            <a:r>
              <a:rPr b="1" lang="en" sz="1300">
                <a:highlight>
                  <a:srgbClr val="FFFFFF"/>
                </a:highlight>
                <a:latin typeface="Times New Roman"/>
                <a:ea typeface="Times New Roman"/>
                <a:cs typeface="Times New Roman"/>
                <a:sym typeface="Times New Roman"/>
              </a:rPr>
              <a:t>SQL</a:t>
            </a:r>
            <a:r>
              <a:rPr b="1" lang="en" sz="1300">
                <a:solidFill>
                  <a:schemeClr val="dk1"/>
                </a:solidFill>
                <a:latin typeface="Times New Roman"/>
                <a:ea typeface="Times New Roman"/>
                <a:cs typeface="Times New Roman"/>
                <a:sym typeface="Times New Roman"/>
              </a:rPr>
              <a:t> </a:t>
            </a:r>
            <a:r>
              <a:rPr b="1" lang="en" sz="1300">
                <a:highlight>
                  <a:srgbClr val="FFFFFF"/>
                </a:highlight>
                <a:latin typeface="Times New Roman"/>
                <a:ea typeface="Times New Roman"/>
                <a:cs typeface="Times New Roman"/>
                <a:sym typeface="Times New Roman"/>
              </a:rPr>
              <a:t>Analysis</a:t>
            </a:r>
            <a:endParaRPr b="1" sz="1300">
              <a:highlight>
                <a:srgbClr val="FFFFFF"/>
              </a:highlight>
              <a:latin typeface="Times New Roman"/>
              <a:ea typeface="Times New Roman"/>
              <a:cs typeface="Times New Roman"/>
              <a:sym typeface="Times New Roman"/>
            </a:endParaRPr>
          </a:p>
          <a:p>
            <a:pPr indent="-311150" lvl="2" marL="1371600" marR="203200" rtl="0" algn="l">
              <a:lnSpc>
                <a:spcPct val="95000"/>
              </a:lnSpc>
              <a:spcBef>
                <a:spcPts val="0"/>
              </a:spcBef>
              <a:spcAft>
                <a:spcPts val="0"/>
              </a:spcAft>
              <a:buSzPts val="1300"/>
              <a:buFont typeface="Times New Roman"/>
              <a:buChar char="■"/>
            </a:pPr>
            <a:r>
              <a:rPr b="1" lang="en" sz="1300">
                <a:highlight>
                  <a:srgbClr val="FFFFFF"/>
                </a:highlight>
                <a:latin typeface="Times New Roman"/>
                <a:ea typeface="Times New Roman"/>
                <a:cs typeface="Times New Roman"/>
                <a:sym typeface="Times New Roman"/>
              </a:rPr>
              <a:t>5.2 Power BI </a:t>
            </a:r>
            <a:r>
              <a:rPr b="1" lang="en" sz="1300">
                <a:highlight>
                  <a:schemeClr val="lt1"/>
                </a:highlight>
                <a:latin typeface="Times New Roman"/>
                <a:ea typeface="Times New Roman"/>
                <a:cs typeface="Times New Roman"/>
                <a:sym typeface="Times New Roman"/>
              </a:rPr>
              <a:t>Analysis</a:t>
            </a:r>
            <a:endParaRPr b="1" sz="1300">
              <a:highlight>
                <a:srgbClr val="FFFFFF"/>
              </a:highlight>
              <a:latin typeface="Times New Roman"/>
              <a:ea typeface="Times New Roman"/>
              <a:cs typeface="Times New Roman"/>
              <a:sym typeface="Times New Roman"/>
            </a:endParaRPr>
          </a:p>
          <a:p>
            <a:pPr indent="-311150" lvl="2" marL="1371600" marR="203200" rtl="0" algn="l">
              <a:lnSpc>
                <a:spcPct val="95000"/>
              </a:lnSpc>
              <a:spcBef>
                <a:spcPts val="0"/>
              </a:spcBef>
              <a:spcAft>
                <a:spcPts val="0"/>
              </a:spcAft>
              <a:buSzPts val="1300"/>
              <a:buFont typeface="Times New Roman"/>
              <a:buChar char="■"/>
            </a:pPr>
            <a:r>
              <a:rPr b="1" lang="en" sz="1300">
                <a:highlight>
                  <a:srgbClr val="FFFFFF"/>
                </a:highlight>
                <a:latin typeface="Times New Roman"/>
                <a:ea typeface="Times New Roman"/>
                <a:cs typeface="Times New Roman"/>
                <a:sym typeface="Times New Roman"/>
              </a:rPr>
              <a:t>5.3 Pandas </a:t>
            </a:r>
            <a:r>
              <a:rPr b="1" lang="en" sz="1300">
                <a:highlight>
                  <a:schemeClr val="lt1"/>
                </a:highlight>
                <a:latin typeface="Times New Roman"/>
                <a:ea typeface="Times New Roman"/>
                <a:cs typeface="Times New Roman"/>
                <a:sym typeface="Times New Roman"/>
              </a:rPr>
              <a:t>Analysis</a:t>
            </a:r>
            <a:endParaRPr b="1" sz="1300">
              <a:highlight>
                <a:srgbClr val="FFFFFF"/>
              </a:highlight>
              <a:latin typeface="Times New Roman"/>
              <a:ea typeface="Times New Roman"/>
              <a:cs typeface="Times New Roman"/>
              <a:sym typeface="Times New Roman"/>
            </a:endParaRPr>
          </a:p>
          <a:p>
            <a:pPr indent="-311150" lvl="2" marL="1371600" marR="203200" rtl="0" algn="l">
              <a:lnSpc>
                <a:spcPct val="95000"/>
              </a:lnSpc>
              <a:spcBef>
                <a:spcPts val="0"/>
              </a:spcBef>
              <a:spcAft>
                <a:spcPts val="0"/>
              </a:spcAft>
              <a:buSzPts val="1300"/>
              <a:buFont typeface="Times New Roman"/>
              <a:buChar char="■"/>
            </a:pPr>
            <a:r>
              <a:rPr b="1" lang="en" sz="1300">
                <a:highlight>
                  <a:schemeClr val="lt1"/>
                </a:highlight>
                <a:latin typeface="Times New Roman"/>
                <a:ea typeface="Times New Roman"/>
                <a:cs typeface="Times New Roman"/>
                <a:sym typeface="Times New Roman"/>
              </a:rPr>
              <a:t>5.4 Streamlit App</a:t>
            </a:r>
            <a:endParaRPr b="1" sz="1300">
              <a:highlight>
                <a:schemeClr val="lt1"/>
              </a:highlight>
              <a:latin typeface="Times New Roman"/>
              <a:ea typeface="Times New Roman"/>
              <a:cs typeface="Times New Roman"/>
              <a:sym typeface="Times New Roman"/>
            </a:endParaRPr>
          </a:p>
          <a:p>
            <a:pPr indent="-311150" lvl="0" marL="457200" marR="203200" rtl="0" algn="l">
              <a:lnSpc>
                <a:spcPct val="95000"/>
              </a:lnSpc>
              <a:spcBef>
                <a:spcPts val="0"/>
              </a:spcBef>
              <a:spcAft>
                <a:spcPts val="0"/>
              </a:spcAft>
              <a:buSzPts val="1300"/>
              <a:buFont typeface="Times New Roman"/>
              <a:buChar char="➢"/>
            </a:pPr>
            <a:r>
              <a:rPr b="1" lang="en" sz="1300">
                <a:solidFill>
                  <a:schemeClr val="dk1"/>
                </a:solidFill>
                <a:highlight>
                  <a:srgbClr val="FFFFFF"/>
                </a:highlight>
                <a:latin typeface="Times New Roman"/>
                <a:ea typeface="Times New Roman"/>
                <a:cs typeface="Times New Roman"/>
                <a:sym typeface="Times New Roman"/>
              </a:rPr>
              <a:t>6. Share Section: Visualizations</a:t>
            </a:r>
            <a:endParaRPr b="1" sz="1300">
              <a:solidFill>
                <a:schemeClr val="dk1"/>
              </a:solidFill>
              <a:highlight>
                <a:srgbClr val="FFFFFF"/>
              </a:highlight>
              <a:latin typeface="Times New Roman"/>
              <a:ea typeface="Times New Roman"/>
              <a:cs typeface="Times New Roman"/>
              <a:sym typeface="Times New Roman"/>
            </a:endParaRPr>
          </a:p>
          <a:p>
            <a:pPr indent="-311150" lvl="0" marL="457200" marR="203200" rtl="0" algn="l">
              <a:lnSpc>
                <a:spcPct val="95000"/>
              </a:lnSpc>
              <a:spcBef>
                <a:spcPts val="0"/>
              </a:spcBef>
              <a:spcAft>
                <a:spcPts val="0"/>
              </a:spcAft>
              <a:buSzPts val="1300"/>
              <a:buFont typeface="Times New Roman"/>
              <a:buChar char="➢"/>
            </a:pPr>
            <a:r>
              <a:rPr b="1" lang="en" sz="1300">
                <a:solidFill>
                  <a:schemeClr val="dk1"/>
                </a:solidFill>
                <a:highlight>
                  <a:srgbClr val="FFFFFF"/>
                </a:highlight>
                <a:latin typeface="Times New Roman"/>
                <a:ea typeface="Times New Roman"/>
                <a:cs typeface="Times New Roman"/>
                <a:sym typeface="Times New Roman"/>
              </a:rPr>
              <a:t>7. Conclusion and Recommendations</a:t>
            </a:r>
            <a:endParaRPr b="1" sz="1300">
              <a:highlight>
                <a:srgbClr val="FFFFFF"/>
              </a:highlight>
              <a:latin typeface="Times New Roman"/>
              <a:ea typeface="Times New Roman"/>
              <a:cs typeface="Times New Roman"/>
              <a:sym typeface="Times New Roman"/>
            </a:endParaRPr>
          </a:p>
          <a:p>
            <a:pPr indent="-311150" lvl="2" marL="1371600" marR="203200" rtl="0" algn="l">
              <a:lnSpc>
                <a:spcPct val="95000"/>
              </a:lnSpc>
              <a:spcBef>
                <a:spcPts val="0"/>
              </a:spcBef>
              <a:spcAft>
                <a:spcPts val="0"/>
              </a:spcAft>
              <a:buSzPts val="1300"/>
              <a:buFont typeface="Times New Roman"/>
              <a:buChar char="■"/>
            </a:pPr>
            <a:r>
              <a:rPr b="1" lang="en" sz="1300">
                <a:highlight>
                  <a:srgbClr val="FFFFFF"/>
                </a:highlight>
                <a:latin typeface="Times New Roman"/>
                <a:ea typeface="Times New Roman"/>
                <a:cs typeface="Times New Roman"/>
                <a:sym typeface="Times New Roman"/>
              </a:rPr>
              <a:t>7.1 Conclusion </a:t>
            </a:r>
            <a:endParaRPr b="1" sz="1300">
              <a:highlight>
                <a:srgbClr val="FFFFFF"/>
              </a:highlight>
              <a:latin typeface="Times New Roman"/>
              <a:ea typeface="Times New Roman"/>
              <a:cs typeface="Times New Roman"/>
              <a:sym typeface="Times New Roman"/>
            </a:endParaRPr>
          </a:p>
          <a:p>
            <a:pPr indent="-311150" lvl="2" marL="1371600" marR="203200" rtl="0" algn="l">
              <a:lnSpc>
                <a:spcPct val="95000"/>
              </a:lnSpc>
              <a:spcBef>
                <a:spcPts val="0"/>
              </a:spcBef>
              <a:spcAft>
                <a:spcPts val="0"/>
              </a:spcAft>
              <a:buSzPts val="1300"/>
              <a:buFont typeface="Times New Roman"/>
              <a:buChar char="■"/>
            </a:pPr>
            <a:r>
              <a:rPr b="1" lang="en" sz="1300">
                <a:highlight>
                  <a:srgbClr val="FFFFFF"/>
                </a:highlight>
                <a:latin typeface="Times New Roman"/>
                <a:ea typeface="Times New Roman"/>
                <a:cs typeface="Times New Roman"/>
                <a:sym typeface="Times New Roman"/>
              </a:rPr>
              <a:t>7.2 Recommendations</a:t>
            </a:r>
            <a:endParaRPr b="1" sz="1300">
              <a:highlight>
                <a:srgbClr val="FFFFFF"/>
              </a:highlight>
              <a:latin typeface="Times New Roman"/>
              <a:ea typeface="Times New Roman"/>
              <a:cs typeface="Times New Roman"/>
              <a:sym typeface="Times New Roman"/>
            </a:endParaRPr>
          </a:p>
          <a:p>
            <a:pPr indent="-311150" lvl="2" marL="1371600" marR="203200" rtl="0" algn="l">
              <a:lnSpc>
                <a:spcPct val="95000"/>
              </a:lnSpc>
              <a:spcBef>
                <a:spcPts val="0"/>
              </a:spcBef>
              <a:spcAft>
                <a:spcPts val="0"/>
              </a:spcAft>
              <a:buSzPts val="1300"/>
              <a:buFont typeface="Times New Roman"/>
              <a:buChar char="■"/>
            </a:pPr>
            <a:r>
              <a:rPr b="1" lang="en" sz="1300">
                <a:highlight>
                  <a:srgbClr val="FFFFFF"/>
                </a:highlight>
                <a:latin typeface="Times New Roman"/>
                <a:ea typeface="Times New Roman"/>
                <a:cs typeface="Times New Roman"/>
                <a:sym typeface="Times New Roman"/>
              </a:rPr>
              <a:t>7.3 Visual Elements to Insert</a:t>
            </a:r>
            <a:endParaRPr b="1" sz="1300">
              <a:highlight>
                <a:srgbClr val="FFFFFF"/>
              </a:highlight>
              <a:latin typeface="Times New Roman"/>
              <a:ea typeface="Times New Roman"/>
              <a:cs typeface="Times New Roman"/>
              <a:sym typeface="Times New Roman"/>
            </a:endParaRPr>
          </a:p>
          <a:p>
            <a:pPr indent="0" lvl="0" marL="1371600" marR="203200" rtl="0" algn="l">
              <a:lnSpc>
                <a:spcPct val="95000"/>
              </a:lnSpc>
              <a:spcBef>
                <a:spcPts val="3600"/>
              </a:spcBef>
              <a:spcAft>
                <a:spcPts val="3000"/>
              </a:spcAft>
              <a:buNone/>
            </a:pPr>
            <a:r>
              <a:t/>
            </a:r>
            <a:endParaRPr b="1" sz="1300">
              <a:highlight>
                <a:srgbClr val="FFFFFF"/>
              </a:highlight>
              <a:latin typeface="Times New Roman"/>
              <a:ea typeface="Times New Roman"/>
              <a:cs typeface="Times New Roman"/>
              <a:sym typeface="Times New Roman"/>
            </a:endParaRPr>
          </a:p>
        </p:txBody>
      </p:sp>
      <p:sp>
        <p:nvSpPr>
          <p:cNvPr id="62" name="Google Shape;62;p14"/>
          <p:cNvSpPr txBox="1"/>
          <p:nvPr>
            <p:ph type="title"/>
          </p:nvPr>
        </p:nvSpPr>
        <p:spPr>
          <a:xfrm>
            <a:off x="311700" y="-45700"/>
            <a:ext cx="8520600" cy="386400"/>
          </a:xfrm>
          <a:prstGeom prst="rect">
            <a:avLst/>
          </a:prstGeom>
        </p:spPr>
        <p:txBody>
          <a:bodyPr anchorCtr="0" anchor="t" bIns="91425" lIns="91425" spcFirstLastPara="1" rIns="91425" wrap="square" tIns="91425">
            <a:normAutofit fontScale="90000"/>
          </a:bodyPr>
          <a:lstStyle/>
          <a:p>
            <a:pPr indent="0" lvl="0" marL="0" rtl="0" algn="ctr">
              <a:lnSpc>
                <a:spcPct val="140000"/>
              </a:lnSpc>
              <a:spcBef>
                <a:spcPts val="2400"/>
              </a:spcBef>
              <a:spcAft>
                <a:spcPts val="600"/>
              </a:spcAft>
              <a:buNone/>
            </a:pPr>
            <a:r>
              <a:rPr b="1" lang="en" sz="1600">
                <a:solidFill>
                  <a:srgbClr val="202214"/>
                </a:solidFill>
                <a:latin typeface="Times New Roman"/>
                <a:ea typeface="Times New Roman"/>
                <a:cs typeface="Times New Roman"/>
                <a:sym typeface="Times New Roman"/>
              </a:rPr>
              <a:t>Table of Contents</a:t>
            </a:r>
            <a:endParaRPr b="1" sz="2000">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idx="1" type="body"/>
          </p:nvPr>
        </p:nvSpPr>
        <p:spPr>
          <a:xfrm>
            <a:off x="311700" y="865325"/>
            <a:ext cx="8520600" cy="39963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Clr>
                <a:schemeClr val="dk1"/>
              </a:buClr>
              <a:buSzPts val="440"/>
              <a:buFont typeface="Arial"/>
              <a:buNone/>
            </a:pPr>
            <a:r>
              <a:rPr b="1" lang="en" sz="1500">
                <a:solidFill>
                  <a:srgbClr val="202214"/>
                </a:solidFill>
                <a:latin typeface="Times New Roman"/>
                <a:ea typeface="Times New Roman"/>
                <a:cs typeface="Times New Roman"/>
                <a:sym typeface="Times New Roman"/>
              </a:rPr>
              <a:t>1.1 Company Background</a:t>
            </a:r>
            <a:r>
              <a:rPr b="1" lang="en" sz="1400">
                <a:solidFill>
                  <a:srgbClr val="202214"/>
                </a:solidFill>
                <a:latin typeface="Times New Roman"/>
                <a:ea typeface="Times New Roman"/>
                <a:cs typeface="Times New Roman"/>
                <a:sym typeface="Times New Roman"/>
              </a:rPr>
              <a:t> </a:t>
            </a:r>
            <a:endParaRPr b="1" sz="1400">
              <a:solidFill>
                <a:srgbClr val="202214"/>
              </a:solidFill>
              <a:latin typeface="Times New Roman"/>
              <a:ea typeface="Times New Roman"/>
              <a:cs typeface="Times New Roman"/>
              <a:sym typeface="Times New Roman"/>
            </a:endParaRPr>
          </a:p>
          <a:p>
            <a:pPr indent="0" lvl="0" marL="0" rtl="0" algn="l">
              <a:lnSpc>
                <a:spcPct val="105000"/>
              </a:lnSpc>
              <a:spcBef>
                <a:spcPts val="1200"/>
              </a:spcBef>
              <a:spcAft>
                <a:spcPts val="0"/>
              </a:spcAft>
              <a:buClr>
                <a:schemeClr val="dk1"/>
              </a:buClr>
              <a:buSzPts val="440"/>
              <a:buFont typeface="Arial"/>
              <a:buNone/>
            </a:pPr>
            <a:r>
              <a:rPr lang="en" sz="1300">
                <a:solidFill>
                  <a:srgbClr val="202214"/>
                </a:solidFill>
                <a:latin typeface="Times New Roman"/>
                <a:ea typeface="Times New Roman"/>
                <a:cs typeface="Times New Roman"/>
                <a:sym typeface="Times New Roman"/>
              </a:rPr>
              <a:t>Bellabeat is a wellness technology company started by Sandro Mur and Urška Sršen in 2013. Bellabeat focus is on women's health and wellness. Their products feature wearable and non-wearable tech, as well as a mobile app.</a:t>
            </a:r>
            <a:endParaRPr sz="1300">
              <a:solidFill>
                <a:srgbClr val="202214"/>
              </a:solidFill>
              <a:latin typeface="Times New Roman"/>
              <a:ea typeface="Times New Roman"/>
              <a:cs typeface="Times New Roman"/>
              <a:sym typeface="Times New Roman"/>
            </a:endParaRPr>
          </a:p>
          <a:p>
            <a:pPr indent="0" lvl="0" marL="0" rtl="0" algn="l">
              <a:lnSpc>
                <a:spcPct val="105000"/>
              </a:lnSpc>
              <a:spcBef>
                <a:spcPts val="1200"/>
              </a:spcBef>
              <a:spcAft>
                <a:spcPts val="0"/>
              </a:spcAft>
              <a:buClr>
                <a:schemeClr val="dk1"/>
              </a:buClr>
              <a:buSzPts val="440"/>
              <a:buFont typeface="Arial"/>
              <a:buNone/>
            </a:pPr>
            <a:r>
              <a:rPr lang="en" sz="1300">
                <a:solidFill>
                  <a:srgbClr val="202214"/>
                </a:solidFill>
                <a:latin typeface="Times New Roman"/>
                <a:ea typeface="Times New Roman"/>
                <a:cs typeface="Times New Roman"/>
                <a:sym typeface="Times New Roman"/>
              </a:rPr>
              <a:t>Their wearable devices track daily sleep, stress, activity, steps, and reproductive health. Bellabeat's goal is to provide information and motivational tips, encouraging and supporting women along their health and fitness journeys.</a:t>
            </a:r>
            <a:endParaRPr sz="1300">
              <a:solidFill>
                <a:srgbClr val="202214"/>
              </a:solidFill>
              <a:latin typeface="Times New Roman"/>
              <a:ea typeface="Times New Roman"/>
              <a:cs typeface="Times New Roman"/>
              <a:sym typeface="Times New Roman"/>
            </a:endParaRPr>
          </a:p>
          <a:p>
            <a:pPr indent="0" lvl="0" marL="0" rtl="0" algn="l">
              <a:lnSpc>
                <a:spcPct val="105000"/>
              </a:lnSpc>
              <a:spcBef>
                <a:spcPts val="1200"/>
              </a:spcBef>
              <a:spcAft>
                <a:spcPts val="0"/>
              </a:spcAft>
              <a:buSzPts val="440"/>
              <a:buNone/>
            </a:pPr>
            <a:r>
              <a:rPr b="1" lang="en" sz="1500">
                <a:solidFill>
                  <a:srgbClr val="202214"/>
                </a:solidFill>
                <a:latin typeface="Times New Roman"/>
                <a:ea typeface="Times New Roman"/>
                <a:cs typeface="Times New Roman"/>
                <a:sym typeface="Times New Roman"/>
              </a:rPr>
              <a:t>1.2 Company Products </a:t>
            </a:r>
            <a:endParaRPr b="1" sz="1500">
              <a:solidFill>
                <a:srgbClr val="202214"/>
              </a:solidFill>
              <a:latin typeface="Times New Roman"/>
              <a:ea typeface="Times New Roman"/>
              <a:cs typeface="Times New Roman"/>
              <a:sym typeface="Times New Roman"/>
            </a:endParaRPr>
          </a:p>
          <a:p>
            <a:pPr indent="0" lvl="0" marL="0" rtl="0" algn="l">
              <a:lnSpc>
                <a:spcPct val="105000"/>
              </a:lnSpc>
              <a:spcBef>
                <a:spcPts val="1200"/>
              </a:spcBef>
              <a:spcAft>
                <a:spcPts val="0"/>
              </a:spcAft>
              <a:buSzPts val="440"/>
              <a:buNone/>
            </a:pPr>
            <a:r>
              <a:rPr b="1" lang="en" sz="1300">
                <a:solidFill>
                  <a:srgbClr val="202214"/>
                </a:solidFill>
                <a:latin typeface="Times New Roman"/>
                <a:ea typeface="Times New Roman"/>
                <a:cs typeface="Times New Roman"/>
                <a:sym typeface="Times New Roman"/>
              </a:rPr>
              <a:t>Bellabeat app</a:t>
            </a:r>
            <a:r>
              <a:rPr lang="en" sz="1300">
                <a:solidFill>
                  <a:srgbClr val="202214"/>
                </a:solidFill>
                <a:latin typeface="Times New Roman"/>
                <a:ea typeface="Times New Roman"/>
                <a:cs typeface="Times New Roman"/>
                <a:sym typeface="Times New Roman"/>
              </a:rPr>
              <a:t>: An interactive app that provides users with up-to-date insights into their daily habits. The app also syncs with all Bellabeat's wearable devices.</a:t>
            </a:r>
            <a:endParaRPr sz="1300">
              <a:solidFill>
                <a:srgbClr val="202214"/>
              </a:solidFill>
              <a:latin typeface="Times New Roman"/>
              <a:ea typeface="Times New Roman"/>
              <a:cs typeface="Times New Roman"/>
              <a:sym typeface="Times New Roman"/>
            </a:endParaRPr>
          </a:p>
          <a:p>
            <a:pPr indent="0" lvl="0" marL="0" rtl="0" algn="l">
              <a:lnSpc>
                <a:spcPct val="105000"/>
              </a:lnSpc>
              <a:spcBef>
                <a:spcPts val="1200"/>
              </a:spcBef>
              <a:spcAft>
                <a:spcPts val="0"/>
              </a:spcAft>
              <a:buSzPts val="440"/>
              <a:buNone/>
            </a:pPr>
            <a:r>
              <a:rPr b="1" lang="en" sz="1300">
                <a:solidFill>
                  <a:srgbClr val="202214"/>
                </a:solidFill>
                <a:latin typeface="Times New Roman"/>
                <a:ea typeface="Times New Roman"/>
                <a:cs typeface="Times New Roman"/>
                <a:sym typeface="Times New Roman"/>
              </a:rPr>
              <a:t>Leaf</a:t>
            </a:r>
            <a:r>
              <a:rPr lang="en" sz="1300">
                <a:solidFill>
                  <a:srgbClr val="202214"/>
                </a:solidFill>
                <a:latin typeface="Times New Roman"/>
                <a:ea typeface="Times New Roman"/>
                <a:cs typeface="Times New Roman"/>
                <a:sym typeface="Times New Roman"/>
              </a:rPr>
              <a:t>: Bellabeat’s original product, which can be worn as a necklace, bracelet, or clip. It tracks its user's daily activity, sleep, and stress levels.</a:t>
            </a:r>
            <a:endParaRPr sz="1300">
              <a:solidFill>
                <a:srgbClr val="202214"/>
              </a:solidFill>
              <a:latin typeface="Times New Roman"/>
              <a:ea typeface="Times New Roman"/>
              <a:cs typeface="Times New Roman"/>
              <a:sym typeface="Times New Roman"/>
            </a:endParaRPr>
          </a:p>
          <a:p>
            <a:pPr indent="0" lvl="0" marL="0" rtl="0" algn="l">
              <a:lnSpc>
                <a:spcPct val="105000"/>
              </a:lnSpc>
              <a:spcBef>
                <a:spcPts val="1200"/>
              </a:spcBef>
              <a:spcAft>
                <a:spcPts val="0"/>
              </a:spcAft>
              <a:buSzPts val="440"/>
              <a:buNone/>
            </a:pPr>
            <a:r>
              <a:rPr b="1" lang="en" sz="1300">
                <a:solidFill>
                  <a:srgbClr val="202214"/>
                </a:solidFill>
                <a:latin typeface="Times New Roman"/>
                <a:ea typeface="Times New Roman"/>
                <a:cs typeface="Times New Roman"/>
                <a:sym typeface="Times New Roman"/>
              </a:rPr>
              <a:t>Time</a:t>
            </a:r>
            <a:r>
              <a:rPr lang="en" sz="1300">
                <a:solidFill>
                  <a:srgbClr val="202214"/>
                </a:solidFill>
                <a:latin typeface="Times New Roman"/>
                <a:ea typeface="Times New Roman"/>
                <a:cs typeface="Times New Roman"/>
                <a:sym typeface="Times New Roman"/>
              </a:rPr>
              <a:t>: This Bellabeat wearable device tracks fitness whilst also providing smartwatch features.</a:t>
            </a:r>
            <a:endParaRPr sz="1300">
              <a:solidFill>
                <a:srgbClr val="202214"/>
              </a:solidFill>
              <a:latin typeface="Times New Roman"/>
              <a:ea typeface="Times New Roman"/>
              <a:cs typeface="Times New Roman"/>
              <a:sym typeface="Times New Roman"/>
            </a:endParaRPr>
          </a:p>
          <a:p>
            <a:pPr indent="0" lvl="0" marL="0" rtl="0" algn="l">
              <a:lnSpc>
                <a:spcPct val="105000"/>
              </a:lnSpc>
              <a:spcBef>
                <a:spcPts val="1200"/>
              </a:spcBef>
              <a:spcAft>
                <a:spcPts val="0"/>
              </a:spcAft>
              <a:buSzPts val="440"/>
              <a:buNone/>
            </a:pPr>
            <a:r>
              <a:rPr b="1" lang="en" sz="1300">
                <a:solidFill>
                  <a:srgbClr val="202214"/>
                </a:solidFill>
                <a:latin typeface="Times New Roman"/>
                <a:ea typeface="Times New Roman"/>
                <a:cs typeface="Times New Roman"/>
                <a:sym typeface="Times New Roman"/>
              </a:rPr>
              <a:t>Spring</a:t>
            </a:r>
            <a:r>
              <a:rPr lang="en" sz="1300">
                <a:solidFill>
                  <a:srgbClr val="202214"/>
                </a:solidFill>
                <a:latin typeface="Times New Roman"/>
                <a:ea typeface="Times New Roman"/>
                <a:cs typeface="Times New Roman"/>
                <a:sym typeface="Times New Roman"/>
              </a:rPr>
              <a:t>: Bellabeat's smart water bottle which keeps track of daily hydration.</a:t>
            </a:r>
            <a:endParaRPr sz="1300">
              <a:solidFill>
                <a:srgbClr val="202214"/>
              </a:solidFill>
              <a:latin typeface="Times New Roman"/>
              <a:ea typeface="Times New Roman"/>
              <a:cs typeface="Times New Roman"/>
              <a:sym typeface="Times New Roman"/>
            </a:endParaRPr>
          </a:p>
          <a:p>
            <a:pPr indent="0" lvl="0" marL="0" rtl="0" algn="l">
              <a:lnSpc>
                <a:spcPct val="105000"/>
              </a:lnSpc>
              <a:spcBef>
                <a:spcPts val="1200"/>
              </a:spcBef>
              <a:spcAft>
                <a:spcPts val="0"/>
              </a:spcAft>
              <a:buSzPts val="440"/>
              <a:buNone/>
            </a:pPr>
            <a:r>
              <a:t/>
            </a:r>
            <a:endParaRPr sz="1400">
              <a:solidFill>
                <a:srgbClr val="202214"/>
              </a:solidFill>
              <a:latin typeface="Times New Roman"/>
              <a:ea typeface="Times New Roman"/>
              <a:cs typeface="Times New Roman"/>
              <a:sym typeface="Times New Roman"/>
            </a:endParaRPr>
          </a:p>
          <a:p>
            <a:pPr indent="0" lvl="0" marL="0" rtl="0" algn="l">
              <a:lnSpc>
                <a:spcPct val="105000"/>
              </a:lnSpc>
              <a:spcBef>
                <a:spcPts val="1200"/>
              </a:spcBef>
              <a:spcAft>
                <a:spcPts val="0"/>
              </a:spcAft>
              <a:buClr>
                <a:schemeClr val="dk1"/>
              </a:buClr>
              <a:buSzPts val="440"/>
              <a:buFont typeface="Arial"/>
              <a:buNone/>
            </a:pPr>
            <a:r>
              <a:t/>
            </a:r>
            <a:endParaRPr sz="1400">
              <a:solidFill>
                <a:srgbClr val="202214"/>
              </a:solidFill>
              <a:latin typeface="Times New Roman"/>
              <a:ea typeface="Times New Roman"/>
              <a:cs typeface="Times New Roman"/>
              <a:sym typeface="Times New Roman"/>
            </a:endParaRPr>
          </a:p>
          <a:p>
            <a:pPr indent="0" lvl="0" marL="0" rtl="0" algn="l">
              <a:lnSpc>
                <a:spcPct val="105000"/>
              </a:lnSpc>
              <a:spcBef>
                <a:spcPts val="1200"/>
              </a:spcBef>
              <a:spcAft>
                <a:spcPts val="1200"/>
              </a:spcAft>
              <a:buSzPts val="440"/>
              <a:buNone/>
            </a:pPr>
            <a:r>
              <a:t/>
            </a:r>
            <a:endParaRPr b="1" sz="1400">
              <a:solidFill>
                <a:srgbClr val="202214"/>
              </a:solidFill>
              <a:latin typeface="Times New Roman"/>
              <a:ea typeface="Times New Roman"/>
              <a:cs typeface="Times New Roman"/>
              <a:sym typeface="Times New Roman"/>
            </a:endParaRPr>
          </a:p>
        </p:txBody>
      </p:sp>
      <p:sp>
        <p:nvSpPr>
          <p:cNvPr id="68" name="Google Shape;68;p15"/>
          <p:cNvSpPr txBox="1"/>
          <p:nvPr>
            <p:ph type="title"/>
          </p:nvPr>
        </p:nvSpPr>
        <p:spPr>
          <a:xfrm>
            <a:off x="311700" y="292625"/>
            <a:ext cx="8520600" cy="572700"/>
          </a:xfrm>
          <a:prstGeom prst="rect">
            <a:avLst/>
          </a:prstGeom>
        </p:spPr>
        <p:txBody>
          <a:bodyPr anchorCtr="0" anchor="t" bIns="91425" lIns="91425" spcFirstLastPara="1" rIns="91425" wrap="square" tIns="91425">
            <a:noAutofit/>
          </a:bodyPr>
          <a:lstStyle/>
          <a:p>
            <a:pPr indent="-381000" lvl="0" marL="457200" marR="203200" rtl="0" algn="l">
              <a:lnSpc>
                <a:spcPct val="95000"/>
              </a:lnSpc>
              <a:spcBef>
                <a:spcPts val="2400"/>
              </a:spcBef>
              <a:spcAft>
                <a:spcPts val="0"/>
              </a:spcAft>
              <a:buClr>
                <a:schemeClr val="dk2"/>
              </a:buClr>
              <a:buSzPts val="2400"/>
              <a:buFont typeface="Times New Roman"/>
              <a:buAutoNum type="arabicPeriod"/>
            </a:pPr>
            <a:r>
              <a:rPr b="1" lang="en" sz="2400">
                <a:solidFill>
                  <a:schemeClr val="dk2"/>
                </a:solidFill>
                <a:highlight>
                  <a:srgbClr val="FFFFFF"/>
                </a:highlight>
                <a:latin typeface="Times New Roman"/>
                <a:ea typeface="Times New Roman"/>
                <a:cs typeface="Times New Roman"/>
                <a:sym typeface="Times New Roman"/>
              </a:rPr>
              <a:t>Company Summary</a:t>
            </a:r>
            <a:endParaRPr b="1" sz="2400">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marR="190500" rtl="0" algn="l">
              <a:lnSpc>
                <a:spcPct val="140000"/>
              </a:lnSpc>
              <a:spcBef>
                <a:spcPts val="0"/>
              </a:spcBef>
              <a:spcAft>
                <a:spcPts val="0"/>
              </a:spcAft>
              <a:buClr>
                <a:schemeClr val="dk1"/>
              </a:buClr>
              <a:buSzPts val="1100"/>
              <a:buFont typeface="Arial"/>
              <a:buNone/>
            </a:pPr>
            <a:r>
              <a:rPr b="1" lang="en" sz="1600">
                <a:solidFill>
                  <a:srgbClr val="202214"/>
                </a:solidFill>
                <a:latin typeface="Times New Roman"/>
                <a:ea typeface="Times New Roman"/>
                <a:cs typeface="Times New Roman"/>
                <a:sym typeface="Times New Roman"/>
              </a:rPr>
              <a:t>2.1 Business Task </a:t>
            </a:r>
            <a:endParaRPr b="1" sz="1400">
              <a:solidFill>
                <a:srgbClr val="202214"/>
              </a:solidFill>
              <a:latin typeface="Times New Roman"/>
              <a:ea typeface="Times New Roman"/>
              <a:cs typeface="Times New Roman"/>
              <a:sym typeface="Times New Roman"/>
            </a:endParaRPr>
          </a:p>
          <a:p>
            <a:pPr indent="0" lvl="0" marL="0" rtl="0" algn="l">
              <a:lnSpc>
                <a:spcPct val="140000"/>
              </a:lnSpc>
              <a:spcBef>
                <a:spcPts val="0"/>
              </a:spcBef>
              <a:spcAft>
                <a:spcPts val="0"/>
              </a:spcAft>
              <a:buNone/>
            </a:pPr>
            <a:r>
              <a:rPr lang="en" sz="1400">
                <a:solidFill>
                  <a:srgbClr val="3C4043"/>
                </a:solidFill>
                <a:latin typeface="Times New Roman"/>
                <a:ea typeface="Times New Roman"/>
                <a:cs typeface="Times New Roman"/>
                <a:sym typeface="Times New Roman"/>
              </a:rPr>
              <a:t>For this case study I used Fitbit Fitness Tracking data to identify trends in health and wellness products. I then analyzed the data to provide insights into Bellabeat's marketing strategy. My hope is to provide insights into the health and wellness industry, to provide the Stakeholders and the Marketing Team with recommendations to increase their product's market share and user engagement.</a:t>
            </a:r>
            <a:endParaRPr sz="1400">
              <a:solidFill>
                <a:srgbClr val="3C4043"/>
              </a:solidFill>
              <a:latin typeface="Times New Roman"/>
              <a:ea typeface="Times New Roman"/>
              <a:cs typeface="Times New Roman"/>
              <a:sym typeface="Times New Roman"/>
            </a:endParaRPr>
          </a:p>
          <a:p>
            <a:pPr indent="0" lvl="0" marL="0" rtl="0" algn="l">
              <a:lnSpc>
                <a:spcPct val="140000"/>
              </a:lnSpc>
              <a:spcBef>
                <a:spcPts val="800"/>
              </a:spcBef>
              <a:spcAft>
                <a:spcPts val="0"/>
              </a:spcAft>
              <a:buNone/>
            </a:pPr>
            <a:r>
              <a:t/>
            </a:r>
            <a:endParaRPr sz="1400">
              <a:solidFill>
                <a:srgbClr val="3C4043"/>
              </a:solidFill>
              <a:latin typeface="Times New Roman"/>
              <a:ea typeface="Times New Roman"/>
              <a:cs typeface="Times New Roman"/>
              <a:sym typeface="Times New Roman"/>
            </a:endParaRPr>
          </a:p>
          <a:p>
            <a:pPr indent="0" lvl="0" marL="0" rtl="0" algn="l">
              <a:lnSpc>
                <a:spcPct val="160000"/>
              </a:lnSpc>
              <a:spcBef>
                <a:spcPts val="800"/>
              </a:spcBef>
              <a:spcAft>
                <a:spcPts val="0"/>
              </a:spcAft>
              <a:buClr>
                <a:schemeClr val="dk1"/>
              </a:buClr>
              <a:buSzPts val="1100"/>
              <a:buFont typeface="Arial"/>
              <a:buNone/>
            </a:pPr>
            <a:r>
              <a:rPr b="1" lang="en" sz="1600">
                <a:solidFill>
                  <a:srgbClr val="202214"/>
                </a:solidFill>
                <a:latin typeface="Times New Roman"/>
                <a:ea typeface="Times New Roman"/>
                <a:cs typeface="Times New Roman"/>
                <a:sym typeface="Times New Roman"/>
              </a:rPr>
              <a:t>2.2 Stakeholders </a:t>
            </a:r>
            <a:endParaRPr b="1" sz="1600">
              <a:solidFill>
                <a:srgbClr val="202214"/>
              </a:solidFill>
              <a:latin typeface="Times New Roman"/>
              <a:ea typeface="Times New Roman"/>
              <a:cs typeface="Times New Roman"/>
              <a:sym typeface="Times New Roman"/>
            </a:endParaRPr>
          </a:p>
          <a:p>
            <a:pPr indent="0" lvl="0" marL="0" rtl="0" algn="l">
              <a:lnSpc>
                <a:spcPct val="160000"/>
              </a:lnSpc>
              <a:spcBef>
                <a:spcPts val="0"/>
              </a:spcBef>
              <a:spcAft>
                <a:spcPts val="0"/>
              </a:spcAft>
              <a:buClr>
                <a:schemeClr val="dk1"/>
              </a:buClr>
              <a:buSzPts val="1100"/>
              <a:buFont typeface="Arial"/>
              <a:buNone/>
            </a:pPr>
            <a:r>
              <a:rPr lang="en" sz="1400">
                <a:solidFill>
                  <a:srgbClr val="3C4043"/>
                </a:solidFill>
                <a:latin typeface="Times New Roman"/>
                <a:ea typeface="Times New Roman"/>
                <a:cs typeface="Times New Roman"/>
                <a:sym typeface="Times New Roman"/>
              </a:rPr>
              <a:t>Urška Sršen: Bellabeat’s Co-founder and Chief Creative Officer</a:t>
            </a:r>
            <a:endParaRPr sz="1400">
              <a:solidFill>
                <a:srgbClr val="3C4043"/>
              </a:solidFill>
              <a:latin typeface="Times New Roman"/>
              <a:ea typeface="Times New Roman"/>
              <a:cs typeface="Times New Roman"/>
              <a:sym typeface="Times New Roman"/>
            </a:endParaRPr>
          </a:p>
          <a:p>
            <a:pPr indent="0" lvl="0" marL="0" rtl="0" algn="l">
              <a:lnSpc>
                <a:spcPct val="160000"/>
              </a:lnSpc>
              <a:spcBef>
                <a:spcPts val="0"/>
              </a:spcBef>
              <a:spcAft>
                <a:spcPts val="0"/>
              </a:spcAft>
              <a:buClr>
                <a:schemeClr val="dk1"/>
              </a:buClr>
              <a:buSzPts val="1100"/>
              <a:buFont typeface="Arial"/>
              <a:buNone/>
            </a:pPr>
            <a:r>
              <a:rPr lang="en" sz="1400">
                <a:solidFill>
                  <a:srgbClr val="3C4043"/>
                </a:solidFill>
                <a:latin typeface="Times New Roman"/>
                <a:ea typeface="Times New Roman"/>
                <a:cs typeface="Times New Roman"/>
                <a:sym typeface="Times New Roman"/>
              </a:rPr>
              <a:t>Sando Mur: Mathematician and Bellabeat Co-founder; a key member of the Bellabeat Executive team</a:t>
            </a:r>
            <a:endParaRPr sz="1400">
              <a:solidFill>
                <a:srgbClr val="3C4043"/>
              </a:solidFill>
              <a:latin typeface="Times New Roman"/>
              <a:ea typeface="Times New Roman"/>
              <a:cs typeface="Times New Roman"/>
              <a:sym typeface="Times New Roman"/>
            </a:endParaRPr>
          </a:p>
          <a:p>
            <a:pPr indent="0" lvl="0" marL="0" rtl="0" algn="l">
              <a:spcBef>
                <a:spcPts val="800"/>
              </a:spcBef>
              <a:spcAft>
                <a:spcPts val="1200"/>
              </a:spcAft>
              <a:buNone/>
            </a:pPr>
            <a:r>
              <a:t/>
            </a:r>
            <a:endParaRPr sz="1400">
              <a:latin typeface="Times New Roman"/>
              <a:ea typeface="Times New Roman"/>
              <a:cs typeface="Times New Roman"/>
              <a:sym typeface="Times New Roman"/>
            </a:endParaRPr>
          </a:p>
        </p:txBody>
      </p:sp>
      <p:sp>
        <p:nvSpPr>
          <p:cNvPr id="74" name="Google Shape;74;p1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40000"/>
              </a:lnSpc>
              <a:spcBef>
                <a:spcPts val="0"/>
              </a:spcBef>
              <a:spcAft>
                <a:spcPts val="0"/>
              </a:spcAft>
              <a:buClr>
                <a:schemeClr val="dk1"/>
              </a:buClr>
              <a:buSzPts val="1100"/>
              <a:buFont typeface="Arial"/>
              <a:buNone/>
            </a:pPr>
            <a:r>
              <a:rPr b="1" lang="en" sz="2400">
                <a:solidFill>
                  <a:schemeClr val="dk2"/>
                </a:solidFill>
                <a:highlight>
                  <a:srgbClr val="FFFFFF"/>
                </a:highlight>
                <a:latin typeface="Times New Roman"/>
                <a:ea typeface="Times New Roman"/>
                <a:cs typeface="Times New Roman"/>
                <a:sym typeface="Times New Roman"/>
              </a:rPr>
              <a:t>2. Ask Section</a:t>
            </a:r>
            <a:endParaRPr b="1" sz="2400">
              <a:solidFill>
                <a:srgbClr val="202214"/>
              </a:solidFill>
              <a:latin typeface="Times New Roman"/>
              <a:ea typeface="Times New Roman"/>
              <a:cs typeface="Times New Roman"/>
              <a:sym typeface="Times New Roman"/>
            </a:endParaRPr>
          </a:p>
          <a:p>
            <a:pPr indent="0" lvl="0" marL="0" rtl="0" algn="l">
              <a:spcBef>
                <a:spcPts val="600"/>
              </a:spcBef>
              <a:spcAft>
                <a:spcPts val="0"/>
              </a:spcAft>
              <a:buNone/>
            </a:pPr>
            <a:r>
              <a:t/>
            </a:r>
            <a:endParaRPr b="1" sz="2400">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marR="0" rtl="0" algn="l">
              <a:lnSpc>
                <a:spcPct val="140000"/>
              </a:lnSpc>
              <a:spcBef>
                <a:spcPts val="0"/>
              </a:spcBef>
              <a:spcAft>
                <a:spcPts val="600"/>
              </a:spcAft>
              <a:buClr>
                <a:schemeClr val="dk1"/>
              </a:buClr>
              <a:buSzPts val="1100"/>
              <a:buFont typeface="Arial"/>
              <a:buNone/>
            </a:pPr>
            <a:r>
              <a:rPr b="1" lang="en" sz="2400">
                <a:solidFill>
                  <a:schemeClr val="dk2"/>
                </a:solidFill>
                <a:highlight>
                  <a:srgbClr val="FFFFFF"/>
                </a:highlight>
                <a:latin typeface="Times New Roman"/>
                <a:ea typeface="Times New Roman"/>
                <a:cs typeface="Times New Roman"/>
                <a:sym typeface="Times New Roman"/>
              </a:rPr>
              <a:t>3. Prepare Section</a:t>
            </a:r>
            <a:endParaRPr b="1" sz="2400">
              <a:solidFill>
                <a:schemeClr val="dk2"/>
              </a:solidFill>
              <a:highlight>
                <a:srgbClr val="FFFFFF"/>
              </a:highlight>
              <a:latin typeface="Times New Roman"/>
              <a:ea typeface="Times New Roman"/>
              <a:cs typeface="Times New Roman"/>
              <a:sym typeface="Times New Roman"/>
            </a:endParaRPr>
          </a:p>
        </p:txBody>
      </p:sp>
      <p:sp>
        <p:nvSpPr>
          <p:cNvPr id="80" name="Google Shape;80;p17"/>
          <p:cNvSpPr txBox="1"/>
          <p:nvPr>
            <p:ph idx="1" type="body"/>
          </p:nvPr>
        </p:nvSpPr>
        <p:spPr>
          <a:xfrm>
            <a:off x="311700" y="1017725"/>
            <a:ext cx="8520600" cy="3698400"/>
          </a:xfrm>
          <a:prstGeom prst="rect">
            <a:avLst/>
          </a:prstGeom>
        </p:spPr>
        <p:txBody>
          <a:bodyPr anchorCtr="0" anchor="t" bIns="91425" lIns="91425" spcFirstLastPara="1" rIns="91425" wrap="square" tIns="91425">
            <a:normAutofit lnSpcReduction="20000"/>
          </a:bodyPr>
          <a:lstStyle/>
          <a:p>
            <a:pPr indent="0" lvl="0" marL="0" marR="190500" rtl="0" algn="l">
              <a:lnSpc>
                <a:spcPct val="140000"/>
              </a:lnSpc>
              <a:spcBef>
                <a:spcPts val="0"/>
              </a:spcBef>
              <a:spcAft>
                <a:spcPts val="0"/>
              </a:spcAft>
              <a:buClr>
                <a:schemeClr val="dk1"/>
              </a:buClr>
              <a:buSzPts val="1100"/>
              <a:buFont typeface="Arial"/>
              <a:buNone/>
            </a:pPr>
            <a:r>
              <a:rPr b="1" lang="en" sz="1450">
                <a:solidFill>
                  <a:srgbClr val="202214"/>
                </a:solidFill>
                <a:latin typeface="Times New Roman"/>
                <a:ea typeface="Times New Roman"/>
                <a:cs typeface="Times New Roman"/>
                <a:sym typeface="Times New Roman"/>
              </a:rPr>
              <a:t>3.1 Data Used </a:t>
            </a:r>
            <a:endParaRPr b="1" sz="1450">
              <a:solidFill>
                <a:srgbClr val="202214"/>
              </a:solidFill>
              <a:latin typeface="Times New Roman"/>
              <a:ea typeface="Times New Roman"/>
              <a:cs typeface="Times New Roman"/>
              <a:sym typeface="Times New Roman"/>
            </a:endParaRPr>
          </a:p>
          <a:p>
            <a:pPr indent="0" lvl="0" marL="0" rtl="0" algn="l">
              <a:lnSpc>
                <a:spcPct val="170000"/>
              </a:lnSpc>
              <a:spcBef>
                <a:spcPts val="1000"/>
              </a:spcBef>
              <a:spcAft>
                <a:spcPts val="0"/>
              </a:spcAft>
              <a:buNone/>
            </a:pPr>
            <a:r>
              <a:rPr lang="en" sz="1525">
                <a:solidFill>
                  <a:srgbClr val="3C4043"/>
                </a:solidFill>
                <a:latin typeface="Times New Roman"/>
                <a:ea typeface="Times New Roman"/>
                <a:cs typeface="Times New Roman"/>
                <a:sym typeface="Times New Roman"/>
              </a:rPr>
              <a:t>For this case study I decided to use the </a:t>
            </a:r>
            <a:r>
              <a:rPr b="1" lang="en" sz="1525" u="sng">
                <a:solidFill>
                  <a:srgbClr val="008ABC"/>
                </a:solidFill>
                <a:latin typeface="Times New Roman"/>
                <a:ea typeface="Times New Roman"/>
                <a:cs typeface="Times New Roman"/>
                <a:sym typeface="Times New Roman"/>
                <a:hlinkClick r:id="rId3">
                  <a:extLst>
                    <a:ext uri="{A12FA001-AC4F-418D-AE19-62706E023703}">
                      <ahyp:hlinkClr val="tx"/>
                    </a:ext>
                  </a:extLst>
                </a:hlinkClick>
              </a:rPr>
              <a:t>FitBit Fitness Tracker Data</a:t>
            </a:r>
            <a:r>
              <a:rPr lang="en" sz="1525">
                <a:solidFill>
                  <a:srgbClr val="3C4043"/>
                </a:solidFill>
                <a:latin typeface="Times New Roman"/>
                <a:ea typeface="Times New Roman"/>
                <a:cs typeface="Times New Roman"/>
                <a:sym typeface="Times New Roman"/>
              </a:rPr>
              <a:t> source. This data source is available for download on Kaggle and was uploaded by user Möbius.</a:t>
            </a:r>
            <a:endParaRPr sz="1525">
              <a:solidFill>
                <a:srgbClr val="3C4043"/>
              </a:solidFill>
              <a:latin typeface="Times New Roman"/>
              <a:ea typeface="Times New Roman"/>
              <a:cs typeface="Times New Roman"/>
              <a:sym typeface="Times New Roman"/>
            </a:endParaRPr>
          </a:p>
          <a:p>
            <a:pPr indent="0" lvl="0" marL="0" marR="190500" rtl="0" algn="l">
              <a:lnSpc>
                <a:spcPct val="140000"/>
              </a:lnSpc>
              <a:spcBef>
                <a:spcPts val="2200"/>
              </a:spcBef>
              <a:spcAft>
                <a:spcPts val="0"/>
              </a:spcAft>
              <a:buClr>
                <a:schemeClr val="dk1"/>
              </a:buClr>
              <a:buSzPts val="1100"/>
              <a:buFont typeface="Arial"/>
              <a:buNone/>
            </a:pPr>
            <a:r>
              <a:rPr b="1" lang="en" sz="1450">
                <a:solidFill>
                  <a:srgbClr val="202214"/>
                </a:solidFill>
                <a:latin typeface="Times New Roman"/>
                <a:ea typeface="Times New Roman"/>
                <a:cs typeface="Times New Roman"/>
                <a:sym typeface="Times New Roman"/>
              </a:rPr>
              <a:t>3.2 Data Summary </a:t>
            </a:r>
            <a:endParaRPr b="1" sz="1450">
              <a:solidFill>
                <a:srgbClr val="202214"/>
              </a:solidFill>
              <a:latin typeface="Times New Roman"/>
              <a:ea typeface="Times New Roman"/>
              <a:cs typeface="Times New Roman"/>
              <a:sym typeface="Times New Roman"/>
            </a:endParaRPr>
          </a:p>
          <a:p>
            <a:pPr indent="0" lvl="0" marL="0" rtl="0" algn="l">
              <a:lnSpc>
                <a:spcPct val="170000"/>
              </a:lnSpc>
              <a:spcBef>
                <a:spcPts val="1000"/>
              </a:spcBef>
              <a:spcAft>
                <a:spcPts val="0"/>
              </a:spcAft>
              <a:buClr>
                <a:schemeClr val="dk1"/>
              </a:buClr>
              <a:buSzPts val="1100"/>
              <a:buFont typeface="Arial"/>
              <a:buNone/>
            </a:pPr>
            <a:r>
              <a:rPr lang="en" sz="1300">
                <a:solidFill>
                  <a:srgbClr val="3C4043"/>
                </a:solidFill>
                <a:latin typeface="Times New Roman"/>
                <a:ea typeface="Times New Roman"/>
                <a:cs typeface="Times New Roman"/>
                <a:sym typeface="Times New Roman"/>
              </a:rPr>
              <a:t>This data source contains 18 datasets in CSV file format. It is important to note that the datasets chosen for my analysis included a minimum user count of 30, as a smaller user count could create a sampling bias.</a:t>
            </a:r>
            <a:endParaRPr sz="1300">
              <a:solidFill>
                <a:srgbClr val="3C4043"/>
              </a:solidFill>
              <a:latin typeface="Times New Roman"/>
              <a:ea typeface="Times New Roman"/>
              <a:cs typeface="Times New Roman"/>
              <a:sym typeface="Times New Roman"/>
            </a:endParaRPr>
          </a:p>
          <a:p>
            <a:pPr indent="0" lvl="0" marL="0" rtl="0" algn="l">
              <a:lnSpc>
                <a:spcPct val="170000"/>
              </a:lnSpc>
              <a:spcBef>
                <a:spcPts val="1000"/>
              </a:spcBef>
              <a:spcAft>
                <a:spcPts val="0"/>
              </a:spcAft>
              <a:buClr>
                <a:schemeClr val="dk1"/>
              </a:buClr>
              <a:buSzPts val="1100"/>
              <a:buFont typeface="Arial"/>
              <a:buNone/>
            </a:pPr>
            <a:r>
              <a:rPr lang="en" sz="1300">
                <a:solidFill>
                  <a:srgbClr val="3C4043"/>
                </a:solidFill>
                <a:latin typeface="Times New Roman"/>
                <a:ea typeface="Times New Roman"/>
                <a:cs typeface="Times New Roman"/>
                <a:sym typeface="Times New Roman"/>
              </a:rPr>
              <a:t>For future analysis I would prefer datasets with larger user counts. The information from this data source also lacked some demographic information, therefore, the users in this data source may not be a true representation of our target audience.</a:t>
            </a:r>
            <a:endParaRPr sz="1300">
              <a:solidFill>
                <a:srgbClr val="3C4043"/>
              </a:solidFill>
              <a:latin typeface="Times New Roman"/>
              <a:ea typeface="Times New Roman"/>
              <a:cs typeface="Times New Roman"/>
              <a:sym typeface="Times New Roman"/>
            </a:endParaRPr>
          </a:p>
          <a:p>
            <a:pPr indent="0" lvl="0" marL="0" rtl="0" algn="l">
              <a:spcBef>
                <a:spcPts val="1200"/>
              </a:spcBef>
              <a:spcAft>
                <a:spcPts val="1200"/>
              </a:spcAft>
              <a:buNone/>
            </a:pPr>
            <a:r>
              <a:t/>
            </a:r>
            <a:endParaRPr>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marR="0" rtl="0" algn="l">
              <a:lnSpc>
                <a:spcPct val="140000"/>
              </a:lnSpc>
              <a:spcBef>
                <a:spcPts val="0"/>
              </a:spcBef>
              <a:spcAft>
                <a:spcPts val="600"/>
              </a:spcAft>
              <a:buClr>
                <a:schemeClr val="dk1"/>
              </a:buClr>
              <a:buSzPts val="1100"/>
              <a:buFont typeface="Arial"/>
              <a:buNone/>
            </a:pPr>
            <a:r>
              <a:rPr b="1" lang="en" sz="2400">
                <a:solidFill>
                  <a:schemeClr val="dk2"/>
                </a:solidFill>
                <a:highlight>
                  <a:srgbClr val="FFFFFF"/>
                </a:highlight>
                <a:latin typeface="Times New Roman"/>
                <a:ea typeface="Times New Roman"/>
                <a:cs typeface="Times New Roman"/>
                <a:sym typeface="Times New Roman"/>
              </a:rPr>
              <a:t>4. Process</a:t>
            </a:r>
            <a:endParaRPr b="1" sz="2400">
              <a:solidFill>
                <a:schemeClr val="dk2"/>
              </a:solidFill>
              <a:highlight>
                <a:srgbClr val="FFFFFF"/>
              </a:highlight>
              <a:latin typeface="Times New Roman"/>
              <a:ea typeface="Times New Roman"/>
              <a:cs typeface="Times New Roman"/>
              <a:sym typeface="Times New Roman"/>
            </a:endParaRPr>
          </a:p>
        </p:txBody>
      </p:sp>
      <p:sp>
        <p:nvSpPr>
          <p:cNvPr id="86" name="Google Shape;86;p18"/>
          <p:cNvSpPr txBox="1"/>
          <p:nvPr>
            <p:ph idx="1" type="body"/>
          </p:nvPr>
        </p:nvSpPr>
        <p:spPr>
          <a:xfrm>
            <a:off x="311700" y="1152475"/>
            <a:ext cx="8520600" cy="3779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600">
                <a:solidFill>
                  <a:schemeClr val="dk1"/>
                </a:solidFill>
                <a:latin typeface="Times New Roman"/>
                <a:ea typeface="Times New Roman"/>
                <a:cs typeface="Times New Roman"/>
                <a:sym typeface="Times New Roman"/>
              </a:rPr>
              <a:t>4.1 Datasets Used</a:t>
            </a:r>
            <a:endParaRPr b="1" sz="1300">
              <a:solidFill>
                <a:schemeClr val="dk1"/>
              </a:solidFill>
              <a:latin typeface="Times New Roman"/>
              <a:ea typeface="Times New Roman"/>
              <a:cs typeface="Times New Roman"/>
              <a:sym typeface="Times New Roman"/>
            </a:endParaRPr>
          </a:p>
          <a:p>
            <a:pPr indent="-311150" lvl="0" marL="457200" rtl="0" algn="l">
              <a:spcBef>
                <a:spcPts val="200"/>
              </a:spcBef>
              <a:spcAft>
                <a:spcPts val="0"/>
              </a:spcAft>
              <a:buClr>
                <a:schemeClr val="dk1"/>
              </a:buClr>
              <a:buSzPts val="1300"/>
              <a:buFont typeface="Times New Roman"/>
              <a:buChar char="●"/>
            </a:pPr>
            <a:r>
              <a:rPr lang="en" sz="1300">
                <a:solidFill>
                  <a:schemeClr val="dk1"/>
                </a:solidFill>
                <a:latin typeface="Times New Roman"/>
                <a:ea typeface="Times New Roman"/>
                <a:cs typeface="Times New Roman"/>
                <a:sym typeface="Times New Roman"/>
              </a:rPr>
              <a:t>Fitness tracking data collected from STRAVA and other health sources.</a:t>
            </a:r>
            <a:endParaRPr sz="1300">
              <a:solidFill>
                <a:schemeClr val="dk1"/>
              </a:solidFill>
              <a:latin typeface="Times New Roman"/>
              <a:ea typeface="Times New Roman"/>
              <a:cs typeface="Times New Roman"/>
              <a:sym typeface="Times New Roman"/>
            </a:endParaRPr>
          </a:p>
          <a:p>
            <a:pPr indent="-311150" lvl="0" marL="457200" rtl="0" algn="l">
              <a:spcBef>
                <a:spcPts val="1200"/>
              </a:spcBef>
              <a:spcAft>
                <a:spcPts val="0"/>
              </a:spcAft>
              <a:buClr>
                <a:schemeClr val="dk1"/>
              </a:buClr>
              <a:buSzPts val="1300"/>
              <a:buFont typeface="Times New Roman"/>
              <a:buChar char="●"/>
            </a:pPr>
            <a:r>
              <a:rPr lang="en" sz="1300">
                <a:solidFill>
                  <a:schemeClr val="dk1"/>
                </a:solidFill>
                <a:latin typeface="Times New Roman"/>
                <a:ea typeface="Times New Roman"/>
                <a:cs typeface="Times New Roman"/>
                <a:sym typeface="Times New Roman"/>
              </a:rPr>
              <a:t>Included multiple metrics: steps, calories, heart rate, sleep, and weight.</a:t>
            </a:r>
            <a:endParaRPr sz="1300">
              <a:solidFill>
                <a:schemeClr val="dk1"/>
              </a:solidFill>
              <a:latin typeface="Times New Roman"/>
              <a:ea typeface="Times New Roman"/>
              <a:cs typeface="Times New Roman"/>
              <a:sym typeface="Times New Roman"/>
            </a:endParaRPr>
          </a:p>
          <a:p>
            <a:pPr indent="-311150" lvl="0" marL="457200" rtl="0" algn="l">
              <a:spcBef>
                <a:spcPts val="1200"/>
              </a:spcBef>
              <a:spcAft>
                <a:spcPts val="0"/>
              </a:spcAft>
              <a:buClr>
                <a:schemeClr val="dk1"/>
              </a:buClr>
              <a:buSzPts val="1300"/>
              <a:buChar char="●"/>
            </a:pPr>
            <a:r>
              <a:rPr lang="en" sz="1300">
                <a:solidFill>
                  <a:schemeClr val="dk1"/>
                </a:solidFill>
                <a:latin typeface="Times New Roman"/>
                <a:ea typeface="Times New Roman"/>
                <a:cs typeface="Times New Roman"/>
                <a:sym typeface="Times New Roman"/>
              </a:rPr>
              <a:t>All raw files were combined into a single master dataset (</a:t>
            </a:r>
            <a:r>
              <a:rPr lang="en" sz="1300">
                <a:solidFill>
                  <a:srgbClr val="188038"/>
                </a:solidFill>
                <a:latin typeface="Times New Roman"/>
                <a:ea typeface="Times New Roman"/>
                <a:cs typeface="Times New Roman"/>
                <a:sym typeface="Times New Roman"/>
              </a:rPr>
              <a:t>cleaned_master.csv</a:t>
            </a:r>
            <a:r>
              <a:rPr lang="en" sz="1300">
                <a:solidFill>
                  <a:schemeClr val="dk1"/>
                </a:solidFill>
                <a:latin typeface="Times New Roman"/>
                <a:ea typeface="Times New Roman"/>
                <a:cs typeface="Times New Roman"/>
                <a:sym typeface="Times New Roman"/>
              </a:rPr>
              <a:t>).</a:t>
            </a:r>
            <a:br>
              <a:rPr lang="en" sz="1300">
                <a:solidFill>
                  <a:schemeClr val="dk1"/>
                </a:solidFill>
                <a:latin typeface="Times New Roman"/>
                <a:ea typeface="Times New Roman"/>
                <a:cs typeface="Times New Roman"/>
                <a:sym typeface="Times New Roman"/>
              </a:rPr>
            </a:br>
            <a:endParaRPr sz="1300">
              <a:solidFill>
                <a:schemeClr val="dk1"/>
              </a:solidFill>
              <a:latin typeface="Times New Roman"/>
              <a:ea typeface="Times New Roman"/>
              <a:cs typeface="Times New Roman"/>
              <a:sym typeface="Times New Roman"/>
            </a:endParaRPr>
          </a:p>
          <a:p>
            <a:pPr indent="0" lvl="0" marL="0" rtl="0" algn="l">
              <a:spcBef>
                <a:spcPts val="1200"/>
              </a:spcBef>
              <a:spcAft>
                <a:spcPts val="0"/>
              </a:spcAft>
              <a:buClr>
                <a:schemeClr val="dk1"/>
              </a:buClr>
              <a:buSzPts val="1100"/>
              <a:buFont typeface="Arial"/>
              <a:buNone/>
            </a:pPr>
            <a:r>
              <a:rPr b="1" lang="en" sz="1500">
                <a:solidFill>
                  <a:schemeClr val="dk1"/>
                </a:solidFill>
                <a:latin typeface="Times New Roman"/>
                <a:ea typeface="Times New Roman"/>
                <a:cs typeface="Times New Roman"/>
                <a:sym typeface="Times New Roman"/>
              </a:rPr>
              <a:t>4.2 Excel Process to Clean Data</a:t>
            </a:r>
            <a:endParaRPr b="1" sz="1500">
              <a:solidFill>
                <a:schemeClr val="dk1"/>
              </a:solidFill>
              <a:latin typeface="Times New Roman"/>
              <a:ea typeface="Times New Roman"/>
              <a:cs typeface="Times New Roman"/>
              <a:sym typeface="Times New Roman"/>
            </a:endParaRPr>
          </a:p>
          <a:p>
            <a:pPr indent="-317500" lvl="0" marL="457200" rtl="0" algn="l">
              <a:lnSpc>
                <a:spcPct val="100000"/>
              </a:lnSpc>
              <a:spcBef>
                <a:spcPts val="200"/>
              </a:spcBef>
              <a:spcAft>
                <a:spcPts val="0"/>
              </a:spcAft>
              <a:buClr>
                <a:schemeClr val="dk1"/>
              </a:buClr>
              <a:buSzPts val="1400"/>
              <a:buFont typeface="Times New Roman"/>
              <a:buChar char="●"/>
            </a:pPr>
            <a:r>
              <a:rPr lang="en" sz="1400">
                <a:solidFill>
                  <a:schemeClr val="dk1"/>
                </a:solidFill>
                <a:latin typeface="Times New Roman"/>
                <a:ea typeface="Times New Roman"/>
                <a:cs typeface="Times New Roman"/>
                <a:sym typeface="Times New Roman"/>
              </a:rPr>
              <a:t>Imported raw files into Excel for initial cleaning.</a:t>
            </a:r>
            <a:endParaRPr sz="1400">
              <a:solidFill>
                <a:schemeClr val="dk1"/>
              </a:solidFill>
              <a:latin typeface="Times New Roman"/>
              <a:ea typeface="Times New Roman"/>
              <a:cs typeface="Times New Roman"/>
              <a:sym typeface="Times New Roman"/>
            </a:endParaRPr>
          </a:p>
          <a:p>
            <a:pPr indent="-317500" lvl="0" marL="457200" rtl="0" algn="l">
              <a:lnSpc>
                <a:spcPct val="100000"/>
              </a:lnSpc>
              <a:spcBef>
                <a:spcPts val="1200"/>
              </a:spcBef>
              <a:spcAft>
                <a:spcPts val="0"/>
              </a:spcAft>
              <a:buClr>
                <a:schemeClr val="dk1"/>
              </a:buClr>
              <a:buSzPts val="1400"/>
              <a:buFont typeface="Times New Roman"/>
              <a:buChar char="●"/>
            </a:pPr>
            <a:r>
              <a:rPr lang="en" sz="1400">
                <a:solidFill>
                  <a:schemeClr val="dk1"/>
                </a:solidFill>
                <a:latin typeface="Times New Roman"/>
                <a:ea typeface="Times New Roman"/>
                <a:cs typeface="Times New Roman"/>
                <a:sym typeface="Times New Roman"/>
              </a:rPr>
              <a:t>Removed duplicate records and handled missing values.</a:t>
            </a:r>
            <a:endParaRPr sz="1400">
              <a:solidFill>
                <a:schemeClr val="dk1"/>
              </a:solidFill>
              <a:latin typeface="Times New Roman"/>
              <a:ea typeface="Times New Roman"/>
              <a:cs typeface="Times New Roman"/>
              <a:sym typeface="Times New Roman"/>
            </a:endParaRPr>
          </a:p>
          <a:p>
            <a:pPr indent="-317500" lvl="0" marL="457200" rtl="0" algn="l">
              <a:lnSpc>
                <a:spcPct val="100000"/>
              </a:lnSpc>
              <a:spcBef>
                <a:spcPts val="1200"/>
              </a:spcBef>
              <a:spcAft>
                <a:spcPts val="0"/>
              </a:spcAft>
              <a:buClr>
                <a:schemeClr val="dk1"/>
              </a:buClr>
              <a:buSzPts val="1400"/>
              <a:buFont typeface="Times New Roman"/>
              <a:buChar char="●"/>
            </a:pPr>
            <a:r>
              <a:rPr lang="en" sz="1400">
                <a:solidFill>
                  <a:schemeClr val="dk1"/>
                </a:solidFill>
                <a:latin typeface="Times New Roman"/>
                <a:ea typeface="Times New Roman"/>
                <a:cs typeface="Times New Roman"/>
                <a:sym typeface="Times New Roman"/>
              </a:rPr>
              <a:t>Standardized column formats (dates, numeric values, text labels).</a:t>
            </a:r>
            <a:endParaRPr sz="1400">
              <a:solidFill>
                <a:schemeClr val="dk1"/>
              </a:solidFill>
              <a:latin typeface="Times New Roman"/>
              <a:ea typeface="Times New Roman"/>
              <a:cs typeface="Times New Roman"/>
              <a:sym typeface="Times New Roman"/>
            </a:endParaRPr>
          </a:p>
          <a:p>
            <a:pPr indent="-317500" lvl="0" marL="457200" rtl="0" algn="l">
              <a:lnSpc>
                <a:spcPct val="100000"/>
              </a:lnSpc>
              <a:spcBef>
                <a:spcPts val="1200"/>
              </a:spcBef>
              <a:spcAft>
                <a:spcPts val="1200"/>
              </a:spcAft>
              <a:buClr>
                <a:schemeClr val="dk1"/>
              </a:buClr>
              <a:buSzPts val="1400"/>
              <a:buFont typeface="Times New Roman"/>
              <a:buChar char="●"/>
            </a:pPr>
            <a:r>
              <a:rPr lang="en" sz="1400">
                <a:solidFill>
                  <a:schemeClr val="dk1"/>
                </a:solidFill>
                <a:latin typeface="Times New Roman"/>
                <a:ea typeface="Times New Roman"/>
                <a:cs typeface="Times New Roman"/>
                <a:sym typeface="Times New Roman"/>
              </a:rPr>
              <a:t>Merged datasets into a consolidated structured file ready for analysis.</a:t>
            </a:r>
            <a:br>
              <a:rPr lang="en" sz="1400">
                <a:solidFill>
                  <a:schemeClr val="dk1"/>
                </a:solidFill>
                <a:latin typeface="Times New Roman"/>
                <a:ea typeface="Times New Roman"/>
                <a:cs typeface="Times New Roman"/>
                <a:sym typeface="Times New Roman"/>
              </a:rPr>
            </a:br>
            <a:endParaRPr sz="1400">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9"/>
          <p:cNvSpPr txBox="1"/>
          <p:nvPr>
            <p:ph idx="1" type="body"/>
          </p:nvPr>
        </p:nvSpPr>
        <p:spPr>
          <a:xfrm>
            <a:off x="311700" y="27852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b="1" lang="en" sz="1500">
                <a:solidFill>
                  <a:schemeClr val="dk1"/>
                </a:solidFill>
                <a:latin typeface="Times New Roman"/>
                <a:ea typeface="Times New Roman"/>
                <a:cs typeface="Times New Roman"/>
                <a:sym typeface="Times New Roman"/>
              </a:rPr>
              <a:t>4.3 Next Steps</a:t>
            </a:r>
            <a:endParaRPr b="1" sz="1500">
              <a:solidFill>
                <a:schemeClr val="dk1"/>
              </a:solidFill>
              <a:latin typeface="Times New Roman"/>
              <a:ea typeface="Times New Roman"/>
              <a:cs typeface="Times New Roman"/>
              <a:sym typeface="Times New Roman"/>
            </a:endParaRPr>
          </a:p>
          <a:p>
            <a:pPr indent="-317500" lvl="0" marL="457200" rtl="0" algn="l">
              <a:spcBef>
                <a:spcPts val="1200"/>
              </a:spcBef>
              <a:spcAft>
                <a:spcPts val="0"/>
              </a:spcAft>
              <a:buClr>
                <a:schemeClr val="dk1"/>
              </a:buClr>
              <a:buSzPts val="1400"/>
              <a:buChar char="●"/>
            </a:pPr>
            <a:r>
              <a:rPr lang="en" sz="1400">
                <a:solidFill>
                  <a:schemeClr val="dk1"/>
                </a:solidFill>
                <a:latin typeface="Times New Roman"/>
                <a:ea typeface="Times New Roman"/>
                <a:cs typeface="Times New Roman"/>
                <a:sym typeface="Times New Roman"/>
              </a:rPr>
              <a:t>Build </a:t>
            </a:r>
            <a:r>
              <a:rPr b="1" lang="en" sz="1400">
                <a:solidFill>
                  <a:schemeClr val="dk1"/>
                </a:solidFill>
                <a:latin typeface="Times New Roman"/>
                <a:ea typeface="Times New Roman"/>
                <a:cs typeface="Times New Roman"/>
                <a:sym typeface="Times New Roman"/>
              </a:rPr>
              <a:t>Power BI dashboards</a:t>
            </a:r>
            <a:r>
              <a:rPr lang="en" sz="1400">
                <a:solidFill>
                  <a:schemeClr val="dk1"/>
                </a:solidFill>
                <a:latin typeface="Times New Roman"/>
                <a:ea typeface="Times New Roman"/>
                <a:cs typeface="Times New Roman"/>
                <a:sym typeface="Times New Roman"/>
              </a:rPr>
              <a:t> for visualization of fitness metrics.</a:t>
            </a:r>
            <a:br>
              <a:rPr lang="en" sz="1400">
                <a:solidFill>
                  <a:schemeClr val="dk1"/>
                </a:solidFill>
                <a:latin typeface="Times New Roman"/>
                <a:ea typeface="Times New Roman"/>
                <a:cs typeface="Times New Roman"/>
                <a:sym typeface="Times New Roman"/>
              </a:rPr>
            </a:br>
            <a:endParaRPr sz="1400">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Char char="●"/>
            </a:pPr>
            <a:r>
              <a:rPr lang="en" sz="1400">
                <a:solidFill>
                  <a:schemeClr val="dk1"/>
                </a:solidFill>
                <a:latin typeface="Times New Roman"/>
                <a:ea typeface="Times New Roman"/>
                <a:cs typeface="Times New Roman"/>
                <a:sym typeface="Times New Roman"/>
              </a:rPr>
              <a:t>Develop an </a:t>
            </a:r>
            <a:r>
              <a:rPr b="1" lang="en" sz="1400">
                <a:solidFill>
                  <a:schemeClr val="dk1"/>
                </a:solidFill>
                <a:latin typeface="Times New Roman"/>
                <a:ea typeface="Times New Roman"/>
                <a:cs typeface="Times New Roman"/>
                <a:sym typeface="Times New Roman"/>
              </a:rPr>
              <a:t>interactive Streamlit app</a:t>
            </a:r>
            <a:r>
              <a:rPr lang="en" sz="1400">
                <a:solidFill>
                  <a:schemeClr val="dk1"/>
                </a:solidFill>
                <a:latin typeface="Times New Roman"/>
                <a:ea typeface="Times New Roman"/>
                <a:cs typeface="Times New Roman"/>
                <a:sym typeface="Times New Roman"/>
              </a:rPr>
              <a:t> (</a:t>
            </a:r>
            <a:r>
              <a:rPr lang="en" sz="1400">
                <a:solidFill>
                  <a:srgbClr val="188038"/>
                </a:solidFill>
                <a:latin typeface="Times New Roman"/>
                <a:ea typeface="Times New Roman"/>
                <a:cs typeface="Times New Roman"/>
                <a:sym typeface="Times New Roman"/>
              </a:rPr>
              <a:t>app.py</a:t>
            </a:r>
            <a:r>
              <a:rPr lang="en" sz="1400">
                <a:solidFill>
                  <a:schemeClr val="dk1"/>
                </a:solidFill>
                <a:latin typeface="Times New Roman"/>
                <a:ea typeface="Times New Roman"/>
                <a:cs typeface="Times New Roman"/>
                <a:sym typeface="Times New Roman"/>
              </a:rPr>
              <a:t>) for exploring trends.</a:t>
            </a:r>
            <a:br>
              <a:rPr lang="en" sz="1400">
                <a:solidFill>
                  <a:schemeClr val="dk1"/>
                </a:solidFill>
                <a:latin typeface="Times New Roman"/>
                <a:ea typeface="Times New Roman"/>
                <a:cs typeface="Times New Roman"/>
                <a:sym typeface="Times New Roman"/>
              </a:rPr>
            </a:br>
            <a:endParaRPr sz="1400">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Char char="●"/>
            </a:pPr>
            <a:r>
              <a:rPr lang="en" sz="1400">
                <a:solidFill>
                  <a:schemeClr val="dk1"/>
                </a:solidFill>
                <a:latin typeface="Times New Roman"/>
                <a:ea typeface="Times New Roman"/>
                <a:cs typeface="Times New Roman"/>
                <a:sym typeface="Times New Roman"/>
              </a:rPr>
              <a:t>Conduct exploratory analysis on </a:t>
            </a:r>
            <a:r>
              <a:rPr b="1" lang="en" sz="1400">
                <a:solidFill>
                  <a:schemeClr val="dk1"/>
                </a:solidFill>
                <a:latin typeface="Times New Roman"/>
                <a:ea typeface="Times New Roman"/>
                <a:cs typeface="Times New Roman"/>
                <a:sym typeface="Times New Roman"/>
              </a:rPr>
              <a:t>activity vs. health patterns</a:t>
            </a:r>
            <a:r>
              <a:rPr lang="en" sz="1400">
                <a:solidFill>
                  <a:schemeClr val="dk1"/>
                </a:solidFill>
                <a:latin typeface="Times New Roman"/>
                <a:ea typeface="Times New Roman"/>
                <a:cs typeface="Times New Roman"/>
                <a:sym typeface="Times New Roman"/>
              </a:rPr>
              <a:t> (steps vs. calories, sleep vs. recovery, weight trends).</a:t>
            </a:r>
            <a:br>
              <a:rPr lang="en" sz="1400">
                <a:solidFill>
                  <a:schemeClr val="dk1"/>
                </a:solidFill>
                <a:latin typeface="Times New Roman"/>
                <a:ea typeface="Times New Roman"/>
                <a:cs typeface="Times New Roman"/>
                <a:sym typeface="Times New Roman"/>
              </a:rPr>
            </a:br>
            <a:endParaRPr sz="1400">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lang="en" sz="1400">
                <a:solidFill>
                  <a:schemeClr val="dk1"/>
                </a:solidFill>
                <a:latin typeface="Times New Roman"/>
                <a:ea typeface="Times New Roman"/>
                <a:cs typeface="Times New Roman"/>
                <a:sym typeface="Times New Roman"/>
              </a:rPr>
              <a:t>Generate actionable insights for monitoring and improving fitness.</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0"/>
          <p:cNvSpPr txBox="1"/>
          <p:nvPr>
            <p:ph type="title"/>
          </p:nvPr>
        </p:nvSpPr>
        <p:spPr>
          <a:xfrm>
            <a:off x="311700" y="98150"/>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1400"/>
              </a:spcBef>
              <a:spcAft>
                <a:spcPts val="400"/>
              </a:spcAft>
              <a:buClr>
                <a:schemeClr val="dk1"/>
              </a:buClr>
              <a:buSzPts val="1100"/>
              <a:buFont typeface="Arial"/>
              <a:buNone/>
            </a:pPr>
            <a:r>
              <a:rPr b="1" lang="en" sz="2400">
                <a:solidFill>
                  <a:schemeClr val="dk2"/>
                </a:solidFill>
                <a:highlight>
                  <a:srgbClr val="FFFFFF"/>
                </a:highlight>
                <a:latin typeface="Times New Roman"/>
                <a:ea typeface="Times New Roman"/>
                <a:cs typeface="Times New Roman"/>
                <a:sym typeface="Times New Roman"/>
              </a:rPr>
              <a:t>5. Analyze</a:t>
            </a:r>
            <a:endParaRPr sz="1900">
              <a:latin typeface="Times New Roman"/>
              <a:ea typeface="Times New Roman"/>
              <a:cs typeface="Times New Roman"/>
              <a:sym typeface="Times New Roman"/>
            </a:endParaRPr>
          </a:p>
        </p:txBody>
      </p:sp>
      <p:sp>
        <p:nvSpPr>
          <p:cNvPr id="97" name="Google Shape;97;p20"/>
          <p:cNvSpPr txBox="1"/>
          <p:nvPr>
            <p:ph idx="1" type="body"/>
          </p:nvPr>
        </p:nvSpPr>
        <p:spPr>
          <a:xfrm>
            <a:off x="311700" y="670850"/>
            <a:ext cx="8520600" cy="4106100"/>
          </a:xfrm>
          <a:prstGeom prst="rect">
            <a:avLst/>
          </a:prstGeom>
        </p:spPr>
        <p:txBody>
          <a:bodyPr anchorCtr="0" anchor="t" bIns="91425" lIns="91425" spcFirstLastPara="1" rIns="91425" wrap="square" tIns="91425">
            <a:noAutofit/>
          </a:bodyPr>
          <a:lstStyle/>
          <a:p>
            <a:pPr indent="0" lvl="0" marL="0" rtl="0" algn="l">
              <a:spcBef>
                <a:spcPts val="1400"/>
              </a:spcBef>
              <a:spcAft>
                <a:spcPts val="0"/>
              </a:spcAft>
              <a:buClr>
                <a:schemeClr val="dk1"/>
              </a:buClr>
              <a:buSzPts val="1100"/>
              <a:buFont typeface="Arial"/>
              <a:buNone/>
            </a:pPr>
            <a:r>
              <a:rPr b="1" lang="en" sz="1400">
                <a:solidFill>
                  <a:schemeClr val="dk1"/>
                </a:solidFill>
                <a:latin typeface="Times New Roman"/>
                <a:ea typeface="Times New Roman"/>
                <a:cs typeface="Times New Roman"/>
                <a:sym typeface="Times New Roman"/>
              </a:rPr>
              <a:t>5.1 SQL Analysis</a:t>
            </a:r>
            <a:endParaRPr b="1" sz="1400">
              <a:solidFill>
                <a:schemeClr val="dk1"/>
              </a:solidFill>
              <a:latin typeface="Times New Roman"/>
              <a:ea typeface="Times New Roman"/>
              <a:cs typeface="Times New Roman"/>
              <a:sym typeface="Times New Roman"/>
            </a:endParaRPr>
          </a:p>
          <a:p>
            <a:pPr indent="-304800" lvl="0" marL="457200" rtl="0" algn="l">
              <a:spcBef>
                <a:spcPts val="1200"/>
              </a:spcBef>
              <a:spcAft>
                <a:spcPts val="0"/>
              </a:spcAft>
              <a:buClr>
                <a:schemeClr val="dk1"/>
              </a:buClr>
              <a:buSzPts val="1200"/>
              <a:buChar char="●"/>
            </a:pPr>
            <a:r>
              <a:rPr lang="en" sz="1200">
                <a:solidFill>
                  <a:schemeClr val="dk1"/>
                </a:solidFill>
                <a:latin typeface="Times New Roman"/>
                <a:ea typeface="Times New Roman"/>
                <a:cs typeface="Times New Roman"/>
                <a:sym typeface="Times New Roman"/>
              </a:rPr>
              <a:t>Wrote SQL qu</a:t>
            </a:r>
            <a:r>
              <a:rPr lang="en" sz="1300">
                <a:solidFill>
                  <a:schemeClr val="dk1"/>
                </a:solidFill>
                <a:latin typeface="Times New Roman"/>
                <a:ea typeface="Times New Roman"/>
                <a:cs typeface="Times New Roman"/>
                <a:sym typeface="Times New Roman"/>
              </a:rPr>
              <a:t>eries (</a:t>
            </a:r>
            <a:r>
              <a:rPr lang="en" sz="1300">
                <a:solidFill>
                  <a:srgbClr val="188038"/>
                </a:solidFill>
                <a:latin typeface="Times New Roman"/>
                <a:ea typeface="Times New Roman"/>
                <a:cs typeface="Times New Roman"/>
                <a:sym typeface="Times New Roman"/>
              </a:rPr>
              <a:t>fitness_sql_analysis.sql</a:t>
            </a:r>
            <a:r>
              <a:rPr lang="en" sz="1300">
                <a:solidFill>
                  <a:schemeClr val="dk1"/>
                </a:solidFill>
                <a:latin typeface="Times New Roman"/>
                <a:ea typeface="Times New Roman"/>
                <a:cs typeface="Times New Roman"/>
                <a:sym typeface="Times New Roman"/>
              </a:rPr>
              <a:t>) to analyze fitness data.</a:t>
            </a:r>
            <a:br>
              <a:rPr lang="en" sz="1300">
                <a:solidFill>
                  <a:schemeClr val="dk1"/>
                </a:solidFill>
                <a:latin typeface="Times New Roman"/>
                <a:ea typeface="Times New Roman"/>
                <a:cs typeface="Times New Roman"/>
                <a:sym typeface="Times New Roman"/>
              </a:rPr>
            </a:br>
            <a:endParaRPr sz="1300">
              <a:solidFill>
                <a:schemeClr val="dk1"/>
              </a:solidFill>
              <a:latin typeface="Times New Roman"/>
              <a:ea typeface="Times New Roman"/>
              <a:cs typeface="Times New Roman"/>
              <a:sym typeface="Times New Roman"/>
            </a:endParaRPr>
          </a:p>
          <a:p>
            <a:pPr indent="-311150" lvl="0" marL="457200" rtl="0" algn="l">
              <a:spcBef>
                <a:spcPts val="0"/>
              </a:spcBef>
              <a:spcAft>
                <a:spcPts val="0"/>
              </a:spcAft>
              <a:buClr>
                <a:schemeClr val="dk1"/>
              </a:buClr>
              <a:buSzPts val="1300"/>
              <a:buChar char="●"/>
            </a:pPr>
            <a:r>
              <a:rPr lang="en" sz="1300">
                <a:solidFill>
                  <a:schemeClr val="dk1"/>
                </a:solidFill>
                <a:latin typeface="Times New Roman"/>
                <a:ea typeface="Times New Roman"/>
                <a:cs typeface="Times New Roman"/>
                <a:sym typeface="Times New Roman"/>
              </a:rPr>
              <a:t>Generated outputs (CSV files in </a:t>
            </a:r>
            <a:r>
              <a:rPr lang="en" sz="1300">
                <a:solidFill>
                  <a:srgbClr val="188038"/>
                </a:solidFill>
                <a:latin typeface="Times New Roman"/>
                <a:ea typeface="Times New Roman"/>
                <a:cs typeface="Times New Roman"/>
                <a:sym typeface="Times New Roman"/>
              </a:rPr>
              <a:t>sql analysis/query result/</a:t>
            </a:r>
            <a:r>
              <a:rPr lang="en" sz="1300">
                <a:solidFill>
                  <a:schemeClr val="dk1"/>
                </a:solidFill>
                <a:latin typeface="Times New Roman"/>
                <a:ea typeface="Times New Roman"/>
                <a:cs typeface="Times New Roman"/>
                <a:sym typeface="Times New Roman"/>
              </a:rPr>
              <a:t>):</a:t>
            </a:r>
            <a:br>
              <a:rPr lang="en" sz="1300">
                <a:solidFill>
                  <a:schemeClr val="dk1"/>
                </a:solidFill>
                <a:latin typeface="Times New Roman"/>
                <a:ea typeface="Times New Roman"/>
                <a:cs typeface="Times New Roman"/>
                <a:sym typeface="Times New Roman"/>
              </a:rPr>
            </a:br>
            <a:endParaRPr sz="1300">
              <a:solidFill>
                <a:schemeClr val="dk1"/>
              </a:solidFill>
              <a:latin typeface="Times New Roman"/>
              <a:ea typeface="Times New Roman"/>
              <a:cs typeface="Times New Roman"/>
              <a:sym typeface="Times New Roman"/>
            </a:endParaRPr>
          </a:p>
          <a:p>
            <a:pPr indent="-311150" lvl="1" marL="914400" rtl="0" algn="l">
              <a:spcBef>
                <a:spcPts val="0"/>
              </a:spcBef>
              <a:spcAft>
                <a:spcPts val="0"/>
              </a:spcAft>
              <a:buClr>
                <a:schemeClr val="dk1"/>
              </a:buClr>
              <a:buSzPts val="1300"/>
              <a:buFont typeface="Times New Roman"/>
              <a:buChar char="○"/>
            </a:pPr>
            <a:r>
              <a:rPr b="1" lang="en" sz="1300">
                <a:solidFill>
                  <a:schemeClr val="dk1"/>
                </a:solidFill>
                <a:latin typeface="Times New Roman"/>
                <a:ea typeface="Times New Roman"/>
                <a:cs typeface="Times New Roman"/>
                <a:sym typeface="Times New Roman"/>
              </a:rPr>
              <a:t>Average Steps per User</a:t>
            </a:r>
            <a:br>
              <a:rPr b="1" lang="en" sz="1300">
                <a:solidFill>
                  <a:schemeClr val="dk1"/>
                </a:solidFill>
                <a:latin typeface="Times New Roman"/>
                <a:ea typeface="Times New Roman"/>
                <a:cs typeface="Times New Roman"/>
                <a:sym typeface="Times New Roman"/>
              </a:rPr>
            </a:br>
            <a:endParaRPr b="1" sz="1300">
              <a:solidFill>
                <a:schemeClr val="dk1"/>
              </a:solidFill>
              <a:latin typeface="Times New Roman"/>
              <a:ea typeface="Times New Roman"/>
              <a:cs typeface="Times New Roman"/>
              <a:sym typeface="Times New Roman"/>
            </a:endParaRPr>
          </a:p>
          <a:p>
            <a:pPr indent="-311150" lvl="1" marL="914400" rtl="0" algn="l">
              <a:spcBef>
                <a:spcPts val="0"/>
              </a:spcBef>
              <a:spcAft>
                <a:spcPts val="0"/>
              </a:spcAft>
              <a:buClr>
                <a:schemeClr val="dk1"/>
              </a:buClr>
              <a:buSzPts val="1300"/>
              <a:buFont typeface="Times New Roman"/>
              <a:buChar char="○"/>
            </a:pPr>
            <a:r>
              <a:rPr b="1" lang="en" sz="1300">
                <a:solidFill>
                  <a:schemeClr val="dk1"/>
                </a:solidFill>
                <a:latin typeface="Times New Roman"/>
                <a:ea typeface="Times New Roman"/>
                <a:cs typeface="Times New Roman"/>
                <a:sym typeface="Times New Roman"/>
              </a:rPr>
              <a:t>Sleep Efficiency</a:t>
            </a:r>
            <a:br>
              <a:rPr b="1" lang="en" sz="1300">
                <a:solidFill>
                  <a:schemeClr val="dk1"/>
                </a:solidFill>
                <a:latin typeface="Times New Roman"/>
                <a:ea typeface="Times New Roman"/>
                <a:cs typeface="Times New Roman"/>
                <a:sym typeface="Times New Roman"/>
              </a:rPr>
            </a:br>
            <a:endParaRPr b="1" sz="1300">
              <a:solidFill>
                <a:schemeClr val="dk1"/>
              </a:solidFill>
              <a:latin typeface="Times New Roman"/>
              <a:ea typeface="Times New Roman"/>
              <a:cs typeface="Times New Roman"/>
              <a:sym typeface="Times New Roman"/>
            </a:endParaRPr>
          </a:p>
          <a:p>
            <a:pPr indent="-311150" lvl="1" marL="914400" rtl="0" algn="l">
              <a:spcBef>
                <a:spcPts val="0"/>
              </a:spcBef>
              <a:spcAft>
                <a:spcPts val="0"/>
              </a:spcAft>
              <a:buClr>
                <a:schemeClr val="dk1"/>
              </a:buClr>
              <a:buSzPts val="1300"/>
              <a:buFont typeface="Times New Roman"/>
              <a:buChar char="○"/>
            </a:pPr>
            <a:r>
              <a:rPr b="1" lang="en" sz="1300">
                <a:solidFill>
                  <a:schemeClr val="dk1"/>
                </a:solidFill>
                <a:latin typeface="Times New Roman"/>
                <a:ea typeface="Times New Roman"/>
                <a:cs typeface="Times New Roman"/>
                <a:sym typeface="Times New Roman"/>
              </a:rPr>
              <a:t>Top 5 Most Active Users</a:t>
            </a:r>
            <a:br>
              <a:rPr b="1" lang="en" sz="1300">
                <a:solidFill>
                  <a:schemeClr val="dk1"/>
                </a:solidFill>
                <a:latin typeface="Times New Roman"/>
                <a:ea typeface="Times New Roman"/>
                <a:cs typeface="Times New Roman"/>
                <a:sym typeface="Times New Roman"/>
              </a:rPr>
            </a:br>
            <a:endParaRPr b="1" sz="1300">
              <a:solidFill>
                <a:schemeClr val="dk1"/>
              </a:solidFill>
              <a:latin typeface="Times New Roman"/>
              <a:ea typeface="Times New Roman"/>
              <a:cs typeface="Times New Roman"/>
              <a:sym typeface="Times New Roman"/>
            </a:endParaRPr>
          </a:p>
          <a:p>
            <a:pPr indent="-311150" lvl="1" marL="914400" rtl="0" algn="l">
              <a:spcBef>
                <a:spcPts val="0"/>
              </a:spcBef>
              <a:spcAft>
                <a:spcPts val="0"/>
              </a:spcAft>
              <a:buClr>
                <a:schemeClr val="dk1"/>
              </a:buClr>
              <a:buSzPts val="1300"/>
              <a:buFont typeface="Times New Roman"/>
              <a:buChar char="○"/>
            </a:pPr>
            <a:r>
              <a:rPr b="1" lang="en" sz="1300">
                <a:solidFill>
                  <a:schemeClr val="dk1"/>
                </a:solidFill>
                <a:latin typeface="Times New Roman"/>
                <a:ea typeface="Times New Roman"/>
                <a:cs typeface="Times New Roman"/>
                <a:sym typeface="Times New Roman"/>
              </a:rPr>
              <a:t>Average Steps vs. Average Calories</a:t>
            </a:r>
            <a:br>
              <a:rPr b="1" lang="en" sz="1300">
                <a:solidFill>
                  <a:schemeClr val="dk1"/>
                </a:solidFill>
                <a:latin typeface="Times New Roman"/>
                <a:ea typeface="Times New Roman"/>
                <a:cs typeface="Times New Roman"/>
                <a:sym typeface="Times New Roman"/>
              </a:rPr>
            </a:br>
            <a:endParaRPr b="1" sz="1300">
              <a:solidFill>
                <a:schemeClr val="dk1"/>
              </a:solidFill>
              <a:latin typeface="Times New Roman"/>
              <a:ea typeface="Times New Roman"/>
              <a:cs typeface="Times New Roman"/>
              <a:sym typeface="Times New Roman"/>
            </a:endParaRPr>
          </a:p>
          <a:p>
            <a:pPr indent="-311150" lvl="1" marL="914400" rtl="0" algn="l">
              <a:spcBef>
                <a:spcPts val="0"/>
              </a:spcBef>
              <a:spcAft>
                <a:spcPts val="0"/>
              </a:spcAft>
              <a:buClr>
                <a:schemeClr val="dk1"/>
              </a:buClr>
              <a:buSzPts val="1300"/>
              <a:buFont typeface="Times New Roman"/>
              <a:buChar char="○"/>
            </a:pPr>
            <a:r>
              <a:rPr b="1" lang="en" sz="1300">
                <a:solidFill>
                  <a:schemeClr val="dk1"/>
                </a:solidFill>
                <a:latin typeface="Times New Roman"/>
                <a:ea typeface="Times New Roman"/>
                <a:cs typeface="Times New Roman"/>
                <a:sym typeface="Times New Roman"/>
              </a:rPr>
              <a:t>Low Activity but High Sleep Days</a:t>
            </a:r>
            <a:br>
              <a:rPr b="1" lang="en" sz="1300">
                <a:solidFill>
                  <a:schemeClr val="dk1"/>
                </a:solidFill>
                <a:latin typeface="Times New Roman"/>
                <a:ea typeface="Times New Roman"/>
                <a:cs typeface="Times New Roman"/>
                <a:sym typeface="Times New Roman"/>
              </a:rPr>
            </a:br>
            <a:endParaRPr b="1" sz="13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Char char="●"/>
            </a:pPr>
            <a:r>
              <a:rPr lang="en" sz="1300">
                <a:solidFill>
                  <a:schemeClr val="dk1"/>
                </a:solidFill>
                <a:latin typeface="Times New Roman"/>
                <a:ea typeface="Times New Roman"/>
                <a:cs typeface="Times New Roman"/>
                <a:sym typeface="Times New Roman"/>
              </a:rPr>
              <a:t>Exported resul</a:t>
            </a:r>
            <a:r>
              <a:rPr lang="en" sz="1200">
                <a:solidFill>
                  <a:schemeClr val="dk1"/>
                </a:solidFill>
                <a:latin typeface="Times New Roman"/>
                <a:ea typeface="Times New Roman"/>
                <a:cs typeface="Times New Roman"/>
                <a:sym typeface="Times New Roman"/>
              </a:rPr>
              <a:t>ts into CSVs for reporting.</a:t>
            </a:r>
            <a:br>
              <a:rPr lang="en" sz="1200">
                <a:solidFill>
                  <a:schemeClr val="dk1"/>
                </a:solidFill>
                <a:latin typeface="Times New Roman"/>
                <a:ea typeface="Times New Roman"/>
                <a:cs typeface="Times New Roman"/>
                <a:sym typeface="Times New Roman"/>
              </a:rPr>
            </a:br>
            <a:endParaRPr b="1" sz="1300">
              <a:solidFill>
                <a:schemeClr val="dk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1"/>
          <p:cNvSpPr txBox="1"/>
          <p:nvPr>
            <p:ph idx="1" type="body"/>
          </p:nvPr>
        </p:nvSpPr>
        <p:spPr>
          <a:xfrm>
            <a:off x="311700" y="161425"/>
            <a:ext cx="8520600" cy="4599600"/>
          </a:xfrm>
          <a:prstGeom prst="rect">
            <a:avLst/>
          </a:prstGeom>
        </p:spPr>
        <p:txBody>
          <a:bodyPr anchorCtr="0" anchor="t" bIns="91425" lIns="91425" spcFirstLastPara="1" rIns="91425" wrap="square" tIns="91425">
            <a:noAutofit/>
          </a:bodyPr>
          <a:lstStyle/>
          <a:p>
            <a:pPr indent="0" lvl="0" marL="0" rtl="0" algn="l">
              <a:spcBef>
                <a:spcPts val="1400"/>
              </a:spcBef>
              <a:spcAft>
                <a:spcPts val="0"/>
              </a:spcAft>
              <a:buClr>
                <a:schemeClr val="dk1"/>
              </a:buClr>
              <a:buSzPts val="1100"/>
              <a:buFont typeface="Arial"/>
              <a:buNone/>
            </a:pPr>
            <a:r>
              <a:rPr b="1" lang="en" sz="1400">
                <a:solidFill>
                  <a:schemeClr val="dk1"/>
                </a:solidFill>
                <a:latin typeface="Times New Roman"/>
                <a:ea typeface="Times New Roman"/>
                <a:cs typeface="Times New Roman"/>
                <a:sym typeface="Times New Roman"/>
              </a:rPr>
              <a:t>5.2 Power BI Analysis</a:t>
            </a:r>
            <a:endParaRPr b="1" sz="1400">
              <a:solidFill>
                <a:schemeClr val="dk1"/>
              </a:solidFill>
              <a:latin typeface="Times New Roman"/>
              <a:ea typeface="Times New Roman"/>
              <a:cs typeface="Times New Roman"/>
              <a:sym typeface="Times New Roman"/>
            </a:endParaRPr>
          </a:p>
          <a:p>
            <a:pPr indent="-304800" lvl="0" marL="457200" rtl="0" algn="l">
              <a:spcBef>
                <a:spcPts val="1200"/>
              </a:spcBef>
              <a:spcAft>
                <a:spcPts val="0"/>
              </a:spcAft>
              <a:buClr>
                <a:schemeClr val="dk1"/>
              </a:buClr>
              <a:buSzPts val="1200"/>
              <a:buChar char="●"/>
            </a:pPr>
            <a:r>
              <a:rPr lang="en" sz="1200">
                <a:solidFill>
                  <a:schemeClr val="dk1"/>
                </a:solidFill>
                <a:latin typeface="Times New Roman"/>
                <a:ea typeface="Times New Roman"/>
                <a:cs typeface="Times New Roman"/>
                <a:sym typeface="Times New Roman"/>
              </a:rPr>
              <a:t>Built an </a:t>
            </a:r>
            <a:r>
              <a:rPr b="1" lang="en" sz="1200">
                <a:solidFill>
                  <a:schemeClr val="dk1"/>
                </a:solidFill>
                <a:latin typeface="Times New Roman"/>
                <a:ea typeface="Times New Roman"/>
                <a:cs typeface="Times New Roman"/>
                <a:sym typeface="Times New Roman"/>
              </a:rPr>
              <a:t>interactive Po</a:t>
            </a:r>
            <a:r>
              <a:rPr b="1" lang="en" sz="1300">
                <a:solidFill>
                  <a:schemeClr val="dk1"/>
                </a:solidFill>
                <a:latin typeface="Times New Roman"/>
                <a:ea typeface="Times New Roman"/>
                <a:cs typeface="Times New Roman"/>
                <a:sym typeface="Times New Roman"/>
              </a:rPr>
              <a:t>wer BI dashboard</a:t>
            </a:r>
            <a:r>
              <a:rPr lang="en" sz="1300">
                <a:solidFill>
                  <a:schemeClr val="dk1"/>
                </a:solidFill>
                <a:latin typeface="Times New Roman"/>
                <a:ea typeface="Times New Roman"/>
                <a:cs typeface="Times New Roman"/>
                <a:sym typeface="Times New Roman"/>
              </a:rPr>
              <a:t> (</a:t>
            </a:r>
            <a:r>
              <a:rPr lang="en" sz="1300">
                <a:solidFill>
                  <a:srgbClr val="188038"/>
                </a:solidFill>
                <a:latin typeface="Times New Roman"/>
                <a:ea typeface="Times New Roman"/>
                <a:cs typeface="Times New Roman"/>
                <a:sym typeface="Times New Roman"/>
              </a:rPr>
              <a:t>power_bi_dashboard_analysis.pbix</a:t>
            </a:r>
            <a:r>
              <a:rPr lang="en" sz="1300">
                <a:solidFill>
                  <a:schemeClr val="dk1"/>
                </a:solidFill>
                <a:latin typeface="Times New Roman"/>
                <a:ea typeface="Times New Roman"/>
                <a:cs typeface="Times New Roman"/>
                <a:sym typeface="Times New Roman"/>
              </a:rPr>
              <a:t>).</a:t>
            </a:r>
            <a:br>
              <a:rPr lang="en" sz="1300">
                <a:solidFill>
                  <a:schemeClr val="dk1"/>
                </a:solidFill>
                <a:latin typeface="Times New Roman"/>
                <a:ea typeface="Times New Roman"/>
                <a:cs typeface="Times New Roman"/>
                <a:sym typeface="Times New Roman"/>
              </a:rPr>
            </a:br>
            <a:endParaRPr sz="1300">
              <a:solidFill>
                <a:schemeClr val="dk1"/>
              </a:solidFill>
              <a:latin typeface="Times New Roman"/>
              <a:ea typeface="Times New Roman"/>
              <a:cs typeface="Times New Roman"/>
              <a:sym typeface="Times New Roman"/>
            </a:endParaRPr>
          </a:p>
          <a:p>
            <a:pPr indent="-311150" lvl="0" marL="457200" rtl="0" algn="l">
              <a:spcBef>
                <a:spcPts val="0"/>
              </a:spcBef>
              <a:spcAft>
                <a:spcPts val="0"/>
              </a:spcAft>
              <a:buClr>
                <a:schemeClr val="dk1"/>
              </a:buClr>
              <a:buSzPts val="1300"/>
              <a:buFont typeface="Times New Roman"/>
              <a:buChar char="●"/>
            </a:pPr>
            <a:r>
              <a:rPr lang="en" sz="1300">
                <a:solidFill>
                  <a:schemeClr val="dk1"/>
                </a:solidFill>
                <a:latin typeface="Times New Roman"/>
                <a:ea typeface="Times New Roman"/>
                <a:cs typeface="Times New Roman"/>
                <a:sym typeface="Times New Roman"/>
              </a:rPr>
              <a:t>Visualized metrics: steps, calories, heart rate, sleep, and weight.</a:t>
            </a:r>
            <a:br>
              <a:rPr lang="en" sz="1300">
                <a:solidFill>
                  <a:schemeClr val="dk1"/>
                </a:solidFill>
                <a:latin typeface="Times New Roman"/>
                <a:ea typeface="Times New Roman"/>
                <a:cs typeface="Times New Roman"/>
                <a:sym typeface="Times New Roman"/>
              </a:rPr>
            </a:br>
            <a:endParaRPr sz="1300">
              <a:solidFill>
                <a:schemeClr val="dk1"/>
              </a:solidFill>
              <a:latin typeface="Times New Roman"/>
              <a:ea typeface="Times New Roman"/>
              <a:cs typeface="Times New Roman"/>
              <a:sym typeface="Times New Roman"/>
            </a:endParaRPr>
          </a:p>
          <a:p>
            <a:pPr indent="-298450" lvl="0" marL="457200" rtl="0" algn="l">
              <a:spcBef>
                <a:spcPts val="0"/>
              </a:spcBef>
              <a:spcAft>
                <a:spcPts val="0"/>
              </a:spcAft>
              <a:buClr>
                <a:schemeClr val="dk1"/>
              </a:buClr>
              <a:buSzPts val="1100"/>
              <a:buChar char="●"/>
            </a:pPr>
            <a:r>
              <a:rPr lang="en" sz="1300">
                <a:solidFill>
                  <a:schemeClr val="dk1"/>
                </a:solidFill>
                <a:latin typeface="Times New Roman"/>
                <a:ea typeface="Times New Roman"/>
                <a:cs typeface="Times New Roman"/>
                <a:sym typeface="Times New Roman"/>
              </a:rPr>
              <a:t>Shared dashboard and e</a:t>
            </a:r>
            <a:r>
              <a:rPr lang="en" sz="1100">
                <a:solidFill>
                  <a:schemeClr val="dk1"/>
                </a:solidFill>
                <a:latin typeface="Times New Roman"/>
                <a:ea typeface="Times New Roman"/>
                <a:cs typeface="Times New Roman"/>
                <a:sym typeface="Times New Roman"/>
              </a:rPr>
              <a:t>xported </a:t>
            </a:r>
            <a:r>
              <a:rPr b="1" lang="en" sz="1100">
                <a:solidFill>
                  <a:schemeClr val="dk1"/>
                </a:solidFill>
                <a:latin typeface="Times New Roman"/>
                <a:ea typeface="Times New Roman"/>
                <a:cs typeface="Times New Roman"/>
                <a:sym typeface="Times New Roman"/>
              </a:rPr>
              <a:t>Power BI reports (PDFs)</a:t>
            </a:r>
            <a:r>
              <a:rPr lang="en" sz="1100">
                <a:solidFill>
                  <a:schemeClr val="dk1"/>
                </a:solidFill>
                <a:latin typeface="Times New Roman"/>
                <a:ea typeface="Times New Roman"/>
                <a:cs typeface="Times New Roman"/>
                <a:sym typeface="Times New Roman"/>
              </a:rPr>
              <a:t> for insights.</a:t>
            </a:r>
            <a:endParaRPr sz="1100">
              <a:solidFill>
                <a:schemeClr val="dk1"/>
              </a:solidFill>
              <a:latin typeface="Times New Roman"/>
              <a:ea typeface="Times New Roman"/>
              <a:cs typeface="Times New Roman"/>
              <a:sym typeface="Times New Roman"/>
            </a:endParaRPr>
          </a:p>
          <a:p>
            <a:pPr indent="0" lvl="0" marL="0" rtl="0" algn="l">
              <a:spcBef>
                <a:spcPts val="1400"/>
              </a:spcBef>
              <a:spcAft>
                <a:spcPts val="0"/>
              </a:spcAft>
              <a:buNone/>
            </a:pPr>
            <a:r>
              <a:rPr b="1" lang="en" sz="1400">
                <a:solidFill>
                  <a:schemeClr val="dk1"/>
                </a:solidFill>
                <a:latin typeface="Times New Roman"/>
                <a:ea typeface="Times New Roman"/>
                <a:cs typeface="Times New Roman"/>
                <a:sym typeface="Times New Roman"/>
              </a:rPr>
              <a:t>5.3 Python (Pandas) Analysis</a:t>
            </a:r>
            <a:endParaRPr b="1" sz="1400">
              <a:solidFill>
                <a:schemeClr val="dk1"/>
              </a:solidFill>
              <a:latin typeface="Times New Roman"/>
              <a:ea typeface="Times New Roman"/>
              <a:cs typeface="Times New Roman"/>
              <a:sym typeface="Times New Roman"/>
            </a:endParaRPr>
          </a:p>
          <a:p>
            <a:pPr indent="-298450" lvl="0" marL="457200" rtl="0" algn="l">
              <a:spcBef>
                <a:spcPts val="1200"/>
              </a:spcBef>
              <a:spcAft>
                <a:spcPts val="0"/>
              </a:spcAft>
              <a:buClr>
                <a:schemeClr val="dk1"/>
              </a:buClr>
              <a:buSzPts val="1100"/>
              <a:buChar char="●"/>
            </a:pPr>
            <a:r>
              <a:rPr lang="en" sz="1100">
                <a:solidFill>
                  <a:schemeClr val="dk1"/>
                </a:solidFill>
                <a:latin typeface="Times New Roman"/>
                <a:ea typeface="Times New Roman"/>
                <a:cs typeface="Times New Roman"/>
                <a:sym typeface="Times New Roman"/>
              </a:rPr>
              <a:t>Used </a:t>
            </a:r>
            <a:r>
              <a:rPr b="1" lang="en" sz="1100">
                <a:solidFill>
                  <a:schemeClr val="dk1"/>
                </a:solidFill>
                <a:latin typeface="Times New Roman"/>
                <a:ea typeface="Times New Roman"/>
                <a:cs typeface="Times New Roman"/>
                <a:sym typeface="Times New Roman"/>
              </a:rPr>
              <a:t>Pa</a:t>
            </a:r>
            <a:r>
              <a:rPr b="1" lang="en" sz="1200">
                <a:solidFill>
                  <a:schemeClr val="dk1"/>
                </a:solidFill>
                <a:latin typeface="Times New Roman"/>
                <a:ea typeface="Times New Roman"/>
                <a:cs typeface="Times New Roman"/>
                <a:sym typeface="Times New Roman"/>
              </a:rPr>
              <a:t>nda</a:t>
            </a:r>
            <a:r>
              <a:rPr b="1" lang="en" sz="1300">
                <a:solidFill>
                  <a:schemeClr val="dk1"/>
                </a:solidFill>
                <a:latin typeface="Times New Roman"/>
                <a:ea typeface="Times New Roman"/>
                <a:cs typeface="Times New Roman"/>
                <a:sym typeface="Times New Roman"/>
              </a:rPr>
              <a:t>s</a:t>
            </a:r>
            <a:r>
              <a:rPr lang="en" sz="1300">
                <a:solidFill>
                  <a:schemeClr val="dk1"/>
                </a:solidFill>
                <a:latin typeface="Times New Roman"/>
                <a:ea typeface="Times New Roman"/>
                <a:cs typeface="Times New Roman"/>
                <a:sym typeface="Times New Roman"/>
              </a:rPr>
              <a:t> (in </a:t>
            </a:r>
            <a:r>
              <a:rPr lang="en" sz="1300">
                <a:solidFill>
                  <a:srgbClr val="188038"/>
                </a:solidFill>
                <a:latin typeface="Times New Roman"/>
                <a:ea typeface="Times New Roman"/>
                <a:cs typeface="Times New Roman"/>
                <a:sym typeface="Times New Roman"/>
              </a:rPr>
              <a:t>Pandas_analysis.ipynb</a:t>
            </a:r>
            <a:r>
              <a:rPr lang="en" sz="1300">
                <a:solidFill>
                  <a:schemeClr val="dk1"/>
                </a:solidFill>
                <a:latin typeface="Times New Roman"/>
                <a:ea typeface="Times New Roman"/>
                <a:cs typeface="Times New Roman"/>
                <a:sym typeface="Times New Roman"/>
              </a:rPr>
              <a:t>) to process and analyze cleaned data.</a:t>
            </a:r>
            <a:br>
              <a:rPr lang="en" sz="1300">
                <a:solidFill>
                  <a:schemeClr val="dk1"/>
                </a:solidFill>
                <a:latin typeface="Times New Roman"/>
                <a:ea typeface="Times New Roman"/>
                <a:cs typeface="Times New Roman"/>
                <a:sym typeface="Times New Roman"/>
              </a:rPr>
            </a:br>
            <a:endParaRPr sz="1300">
              <a:solidFill>
                <a:schemeClr val="dk1"/>
              </a:solidFill>
              <a:latin typeface="Times New Roman"/>
              <a:ea typeface="Times New Roman"/>
              <a:cs typeface="Times New Roman"/>
              <a:sym typeface="Times New Roman"/>
            </a:endParaRPr>
          </a:p>
          <a:p>
            <a:pPr indent="-311150" lvl="0" marL="457200" rtl="0" algn="l">
              <a:spcBef>
                <a:spcPts val="0"/>
              </a:spcBef>
              <a:spcAft>
                <a:spcPts val="0"/>
              </a:spcAft>
              <a:buClr>
                <a:schemeClr val="dk1"/>
              </a:buClr>
              <a:buSzPts val="1300"/>
              <a:buChar char="●"/>
            </a:pPr>
            <a:r>
              <a:rPr lang="en" sz="1300">
                <a:solidFill>
                  <a:schemeClr val="dk1"/>
                </a:solidFill>
                <a:latin typeface="Times New Roman"/>
                <a:ea typeface="Times New Roman"/>
                <a:cs typeface="Times New Roman"/>
                <a:sym typeface="Times New Roman"/>
              </a:rPr>
              <a:t>Created charts and saved results (</a:t>
            </a:r>
            <a:r>
              <a:rPr lang="en" sz="1300">
                <a:solidFill>
                  <a:srgbClr val="188038"/>
                </a:solidFill>
                <a:latin typeface="Times New Roman"/>
                <a:ea typeface="Times New Roman"/>
                <a:cs typeface="Times New Roman"/>
                <a:sym typeface="Times New Roman"/>
              </a:rPr>
              <a:t>pandas_with_charts.csv</a:t>
            </a:r>
            <a:r>
              <a:rPr lang="en" sz="1300">
                <a:solidFill>
                  <a:schemeClr val="dk1"/>
                </a:solidFill>
                <a:latin typeface="Times New Roman"/>
                <a:ea typeface="Times New Roman"/>
                <a:cs typeface="Times New Roman"/>
                <a:sym typeface="Times New Roman"/>
              </a:rPr>
              <a:t>).</a:t>
            </a:r>
            <a:br>
              <a:rPr lang="en" sz="1300">
                <a:solidFill>
                  <a:schemeClr val="dk1"/>
                </a:solidFill>
                <a:latin typeface="Times New Roman"/>
                <a:ea typeface="Times New Roman"/>
                <a:cs typeface="Times New Roman"/>
                <a:sym typeface="Times New Roman"/>
              </a:rPr>
            </a:br>
            <a:endParaRPr sz="1300">
              <a:solidFill>
                <a:schemeClr val="dk1"/>
              </a:solidFill>
              <a:latin typeface="Times New Roman"/>
              <a:ea typeface="Times New Roman"/>
              <a:cs typeface="Times New Roman"/>
              <a:sym typeface="Times New Roman"/>
            </a:endParaRPr>
          </a:p>
          <a:p>
            <a:pPr indent="-298450" lvl="0" marL="457200" rtl="0" algn="l">
              <a:spcBef>
                <a:spcPts val="0"/>
              </a:spcBef>
              <a:spcAft>
                <a:spcPts val="0"/>
              </a:spcAft>
              <a:buClr>
                <a:schemeClr val="dk1"/>
              </a:buClr>
              <a:buSzPts val="1100"/>
              <a:buChar char="●"/>
            </a:pPr>
            <a:r>
              <a:rPr lang="en" sz="1300">
                <a:solidFill>
                  <a:schemeClr val="dk1"/>
                </a:solidFill>
                <a:latin typeface="Times New Roman"/>
                <a:ea typeface="Times New Roman"/>
                <a:cs typeface="Times New Roman"/>
                <a:sym typeface="Times New Roman"/>
              </a:rPr>
              <a:t>Documented findings in a</a:t>
            </a:r>
            <a:r>
              <a:rPr lang="en" sz="1100">
                <a:solidFill>
                  <a:schemeClr val="dk1"/>
                </a:solidFill>
                <a:latin typeface="Times New Roman"/>
                <a:ea typeface="Times New Roman"/>
                <a:cs typeface="Times New Roman"/>
                <a:sym typeface="Times New Roman"/>
              </a:rPr>
              <a:t> </a:t>
            </a:r>
            <a:r>
              <a:rPr b="1" lang="en" sz="1100">
                <a:solidFill>
                  <a:schemeClr val="dk1"/>
                </a:solidFill>
                <a:latin typeface="Times New Roman"/>
                <a:ea typeface="Times New Roman"/>
                <a:cs typeface="Times New Roman"/>
                <a:sym typeface="Times New Roman"/>
              </a:rPr>
              <a:t>case study report (DOCX/PDF)</a:t>
            </a:r>
            <a:r>
              <a:rPr lang="en" sz="1100">
                <a:solidFill>
                  <a:schemeClr val="dk1"/>
                </a:solidFill>
                <a:latin typeface="Times New Roman"/>
                <a:ea typeface="Times New Roman"/>
                <a:cs typeface="Times New Roman"/>
                <a:sym typeface="Times New Roman"/>
              </a:rPr>
              <a:t>.</a:t>
            </a:r>
            <a:endParaRPr sz="1100">
              <a:solidFill>
                <a:schemeClr val="dk1"/>
              </a:solidFill>
              <a:latin typeface="Times New Roman"/>
              <a:ea typeface="Times New Roman"/>
              <a:cs typeface="Times New Roman"/>
              <a:sym typeface="Times New Roman"/>
            </a:endParaRPr>
          </a:p>
          <a:p>
            <a:pPr indent="0" lvl="0" marL="0" rtl="0" algn="l">
              <a:spcBef>
                <a:spcPts val="1400"/>
              </a:spcBef>
              <a:spcAft>
                <a:spcPts val="0"/>
              </a:spcAft>
              <a:buNone/>
            </a:pPr>
            <a:r>
              <a:rPr b="1" lang="en" sz="1400">
                <a:solidFill>
                  <a:schemeClr val="dk1"/>
                </a:solidFill>
                <a:latin typeface="Times New Roman"/>
                <a:ea typeface="Times New Roman"/>
                <a:cs typeface="Times New Roman"/>
                <a:sym typeface="Times New Roman"/>
              </a:rPr>
              <a:t>5.4 Streamlit App</a:t>
            </a:r>
            <a:endParaRPr b="1" sz="1400">
              <a:solidFill>
                <a:schemeClr val="dk1"/>
              </a:solidFill>
              <a:latin typeface="Times New Roman"/>
              <a:ea typeface="Times New Roman"/>
              <a:cs typeface="Times New Roman"/>
              <a:sym typeface="Times New Roman"/>
            </a:endParaRPr>
          </a:p>
          <a:p>
            <a:pPr indent="-298450" lvl="0" marL="457200" rtl="0" algn="l">
              <a:spcBef>
                <a:spcPts val="1200"/>
              </a:spcBef>
              <a:spcAft>
                <a:spcPts val="0"/>
              </a:spcAft>
              <a:buClr>
                <a:schemeClr val="dk1"/>
              </a:buClr>
              <a:buSzPts val="1100"/>
              <a:buChar char="●"/>
            </a:pPr>
            <a:r>
              <a:rPr lang="en" sz="1100">
                <a:solidFill>
                  <a:schemeClr val="dk1"/>
                </a:solidFill>
                <a:latin typeface="Times New Roman"/>
                <a:ea typeface="Times New Roman"/>
                <a:cs typeface="Times New Roman"/>
                <a:sym typeface="Times New Roman"/>
              </a:rPr>
              <a:t>Develo</a:t>
            </a:r>
            <a:r>
              <a:rPr lang="en" sz="1300">
                <a:solidFill>
                  <a:schemeClr val="dk1"/>
                </a:solidFill>
                <a:latin typeface="Times New Roman"/>
                <a:ea typeface="Times New Roman"/>
                <a:cs typeface="Times New Roman"/>
                <a:sym typeface="Times New Roman"/>
              </a:rPr>
              <a:t>ped a </a:t>
            </a:r>
            <a:r>
              <a:rPr b="1" lang="en" sz="1300">
                <a:solidFill>
                  <a:schemeClr val="dk1"/>
                </a:solidFill>
                <a:latin typeface="Times New Roman"/>
                <a:ea typeface="Times New Roman"/>
                <a:cs typeface="Times New Roman"/>
                <a:sym typeface="Times New Roman"/>
              </a:rPr>
              <a:t>Streamlit application</a:t>
            </a:r>
            <a:r>
              <a:rPr lang="en" sz="1300">
                <a:solidFill>
                  <a:schemeClr val="dk1"/>
                </a:solidFill>
                <a:latin typeface="Times New Roman"/>
                <a:ea typeface="Times New Roman"/>
                <a:cs typeface="Times New Roman"/>
                <a:sym typeface="Times New Roman"/>
              </a:rPr>
              <a:t> (</a:t>
            </a:r>
            <a:r>
              <a:rPr lang="en" sz="1300">
                <a:solidFill>
                  <a:srgbClr val="188038"/>
                </a:solidFill>
                <a:latin typeface="Times New Roman"/>
                <a:ea typeface="Times New Roman"/>
                <a:cs typeface="Times New Roman"/>
                <a:sym typeface="Times New Roman"/>
              </a:rPr>
              <a:t>app.py</a:t>
            </a:r>
            <a:r>
              <a:rPr lang="en" sz="1300">
                <a:solidFill>
                  <a:schemeClr val="dk1"/>
                </a:solidFill>
                <a:latin typeface="Times New Roman"/>
                <a:ea typeface="Times New Roman"/>
                <a:cs typeface="Times New Roman"/>
                <a:sym typeface="Times New Roman"/>
              </a:rPr>
              <a:t>) for interactive exploration of fitness data.</a:t>
            </a:r>
            <a:br>
              <a:rPr lang="en" sz="1300">
                <a:solidFill>
                  <a:schemeClr val="dk1"/>
                </a:solidFill>
                <a:latin typeface="Times New Roman"/>
                <a:ea typeface="Times New Roman"/>
                <a:cs typeface="Times New Roman"/>
                <a:sym typeface="Times New Roman"/>
              </a:rPr>
            </a:br>
            <a:endParaRPr sz="1300">
              <a:solidFill>
                <a:schemeClr val="dk1"/>
              </a:solidFill>
              <a:latin typeface="Times New Roman"/>
              <a:ea typeface="Times New Roman"/>
              <a:cs typeface="Times New Roman"/>
              <a:sym typeface="Times New Roman"/>
            </a:endParaRPr>
          </a:p>
          <a:p>
            <a:pPr indent="-298450" lvl="0" marL="457200" rtl="0" algn="l">
              <a:spcBef>
                <a:spcPts val="0"/>
              </a:spcBef>
              <a:spcAft>
                <a:spcPts val="0"/>
              </a:spcAft>
              <a:buClr>
                <a:schemeClr val="dk1"/>
              </a:buClr>
              <a:buSzPts val="1100"/>
              <a:buFont typeface="Times New Roman"/>
              <a:buChar char="●"/>
            </a:pPr>
            <a:r>
              <a:rPr lang="en" sz="1300">
                <a:solidFill>
                  <a:schemeClr val="dk1"/>
                </a:solidFill>
                <a:latin typeface="Times New Roman"/>
                <a:ea typeface="Times New Roman"/>
                <a:cs typeface="Times New Roman"/>
                <a:sym typeface="Times New Roman"/>
              </a:rPr>
              <a:t>Allowe</a:t>
            </a:r>
            <a:r>
              <a:rPr lang="en" sz="1100">
                <a:solidFill>
                  <a:schemeClr val="dk1"/>
                </a:solidFill>
                <a:latin typeface="Times New Roman"/>
                <a:ea typeface="Times New Roman"/>
                <a:cs typeface="Times New Roman"/>
                <a:sym typeface="Times New Roman"/>
              </a:rPr>
              <a:t>d users to filter and view trends dynamically.</a:t>
            </a:r>
            <a:br>
              <a:rPr lang="en" sz="1100">
                <a:solidFill>
                  <a:schemeClr val="dk1"/>
                </a:solidFill>
                <a:latin typeface="Times New Roman"/>
                <a:ea typeface="Times New Roman"/>
                <a:cs typeface="Times New Roman"/>
                <a:sym typeface="Times New Roman"/>
              </a:rPr>
            </a:br>
            <a:endParaRPr sz="1100">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b="1" sz="1500">
              <a:solidFill>
                <a:schemeClr val="dk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2"/>
          <p:cNvSpPr txBox="1"/>
          <p:nvPr>
            <p:ph type="title"/>
          </p:nvPr>
        </p:nvSpPr>
        <p:spPr>
          <a:xfrm>
            <a:off x="311700" y="26665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400">
                <a:solidFill>
                  <a:schemeClr val="dk2"/>
                </a:solidFill>
                <a:highlight>
                  <a:srgbClr val="FFFFFF"/>
                </a:highlight>
                <a:latin typeface="Times New Roman"/>
                <a:ea typeface="Times New Roman"/>
                <a:cs typeface="Times New Roman"/>
                <a:sym typeface="Times New Roman"/>
              </a:rPr>
              <a:t>6. Share Section: Visualizations</a:t>
            </a:r>
            <a:endParaRPr b="1" sz="2400">
              <a:solidFill>
                <a:schemeClr val="dk2"/>
              </a:solidFill>
              <a:highlight>
                <a:srgbClr val="FFFFFF"/>
              </a:highlight>
              <a:latin typeface="Times New Roman"/>
              <a:ea typeface="Times New Roman"/>
              <a:cs typeface="Times New Roman"/>
              <a:sym typeface="Times New Roman"/>
            </a:endParaRPr>
          </a:p>
        </p:txBody>
      </p:sp>
      <p:sp>
        <p:nvSpPr>
          <p:cNvPr id="108" name="Google Shape;108;p22"/>
          <p:cNvSpPr txBox="1"/>
          <p:nvPr>
            <p:ph idx="1" type="body"/>
          </p:nvPr>
        </p:nvSpPr>
        <p:spPr>
          <a:xfrm>
            <a:off x="311700" y="863550"/>
            <a:ext cx="8520600" cy="3927300"/>
          </a:xfrm>
          <a:prstGeom prst="rect">
            <a:avLst/>
          </a:prstGeom>
        </p:spPr>
        <p:txBody>
          <a:bodyPr anchorCtr="0" anchor="t" bIns="91425" lIns="91425" spcFirstLastPara="1" rIns="91425" wrap="square" tIns="91425">
            <a:noAutofit/>
          </a:bodyPr>
          <a:lstStyle/>
          <a:p>
            <a:pPr indent="-309245" lvl="0" marL="457200" rtl="0" algn="l">
              <a:lnSpc>
                <a:spcPct val="95000"/>
              </a:lnSpc>
              <a:spcBef>
                <a:spcPts val="1200"/>
              </a:spcBef>
              <a:spcAft>
                <a:spcPts val="0"/>
              </a:spcAft>
              <a:buClr>
                <a:schemeClr val="dk1"/>
              </a:buClr>
              <a:buSzPts val="1270"/>
              <a:buFont typeface="Times New Roman"/>
              <a:buChar char="●"/>
            </a:pPr>
            <a:r>
              <a:rPr lang="en" sz="1270">
                <a:solidFill>
                  <a:schemeClr val="dk1"/>
                </a:solidFill>
                <a:latin typeface="Times New Roman"/>
                <a:ea typeface="Times New Roman"/>
                <a:cs typeface="Times New Roman"/>
                <a:sym typeface="Times New Roman"/>
              </a:rPr>
              <a:t>Cleaned and structured fitness data using </a:t>
            </a:r>
            <a:r>
              <a:rPr b="1" lang="en" sz="1270">
                <a:solidFill>
                  <a:schemeClr val="dk1"/>
                </a:solidFill>
                <a:latin typeface="Times New Roman"/>
                <a:ea typeface="Times New Roman"/>
                <a:cs typeface="Times New Roman"/>
                <a:sym typeface="Times New Roman"/>
              </a:rPr>
              <a:t>SQL &amp; Pandas</a:t>
            </a:r>
            <a:r>
              <a:rPr lang="en" sz="1270">
                <a:solidFill>
                  <a:schemeClr val="dk1"/>
                </a:solidFill>
                <a:latin typeface="Times New Roman"/>
                <a:ea typeface="Times New Roman"/>
                <a:cs typeface="Times New Roman"/>
                <a:sym typeface="Times New Roman"/>
              </a:rPr>
              <a:t>.</a:t>
            </a:r>
            <a:br>
              <a:rPr lang="en" sz="1270">
                <a:solidFill>
                  <a:schemeClr val="dk1"/>
                </a:solidFill>
                <a:latin typeface="Times New Roman"/>
                <a:ea typeface="Times New Roman"/>
                <a:cs typeface="Times New Roman"/>
                <a:sym typeface="Times New Roman"/>
              </a:rPr>
            </a:br>
            <a:endParaRPr sz="1270">
              <a:solidFill>
                <a:schemeClr val="dk1"/>
              </a:solidFill>
              <a:latin typeface="Times New Roman"/>
              <a:ea typeface="Times New Roman"/>
              <a:cs typeface="Times New Roman"/>
              <a:sym typeface="Times New Roman"/>
            </a:endParaRPr>
          </a:p>
          <a:p>
            <a:pPr indent="-309245" lvl="0" marL="457200" rtl="0" algn="l">
              <a:lnSpc>
                <a:spcPct val="95000"/>
              </a:lnSpc>
              <a:spcBef>
                <a:spcPts val="0"/>
              </a:spcBef>
              <a:spcAft>
                <a:spcPts val="0"/>
              </a:spcAft>
              <a:buClr>
                <a:schemeClr val="dk1"/>
              </a:buClr>
              <a:buSzPts val="1270"/>
              <a:buChar char="●"/>
            </a:pPr>
            <a:r>
              <a:rPr lang="en" sz="1270">
                <a:solidFill>
                  <a:schemeClr val="dk1"/>
                </a:solidFill>
                <a:latin typeface="Times New Roman"/>
                <a:ea typeface="Times New Roman"/>
                <a:cs typeface="Times New Roman"/>
                <a:sym typeface="Times New Roman"/>
              </a:rPr>
              <a:t>Built </a:t>
            </a:r>
            <a:r>
              <a:rPr b="1" lang="en" sz="1270">
                <a:solidFill>
                  <a:schemeClr val="dk1"/>
                </a:solidFill>
                <a:latin typeface="Times New Roman"/>
                <a:ea typeface="Times New Roman"/>
                <a:cs typeface="Times New Roman"/>
                <a:sym typeface="Times New Roman"/>
              </a:rPr>
              <a:t>Power BI dashboards</a:t>
            </a:r>
            <a:r>
              <a:rPr lang="en" sz="1270">
                <a:solidFill>
                  <a:schemeClr val="dk1"/>
                </a:solidFill>
                <a:latin typeface="Times New Roman"/>
                <a:ea typeface="Times New Roman"/>
                <a:cs typeface="Times New Roman"/>
                <a:sym typeface="Times New Roman"/>
              </a:rPr>
              <a:t> for:</a:t>
            </a:r>
            <a:br>
              <a:rPr lang="en" sz="1270">
                <a:solidFill>
                  <a:schemeClr val="dk1"/>
                </a:solidFill>
                <a:latin typeface="Times New Roman"/>
                <a:ea typeface="Times New Roman"/>
                <a:cs typeface="Times New Roman"/>
                <a:sym typeface="Times New Roman"/>
              </a:rPr>
            </a:br>
            <a:endParaRPr sz="1270">
              <a:solidFill>
                <a:schemeClr val="dk1"/>
              </a:solidFill>
              <a:latin typeface="Times New Roman"/>
              <a:ea typeface="Times New Roman"/>
              <a:cs typeface="Times New Roman"/>
              <a:sym typeface="Times New Roman"/>
            </a:endParaRPr>
          </a:p>
          <a:p>
            <a:pPr indent="-309244" lvl="1" marL="914400" rtl="0" algn="l">
              <a:lnSpc>
                <a:spcPct val="95000"/>
              </a:lnSpc>
              <a:spcBef>
                <a:spcPts val="0"/>
              </a:spcBef>
              <a:spcAft>
                <a:spcPts val="0"/>
              </a:spcAft>
              <a:buClr>
                <a:schemeClr val="dk1"/>
              </a:buClr>
              <a:buSzPts val="1270"/>
              <a:buChar char="○"/>
            </a:pPr>
            <a:r>
              <a:rPr lang="en" sz="1270">
                <a:solidFill>
                  <a:schemeClr val="dk1"/>
                </a:solidFill>
                <a:latin typeface="Times New Roman"/>
                <a:ea typeface="Times New Roman"/>
                <a:cs typeface="Times New Roman"/>
                <a:sym typeface="Times New Roman"/>
              </a:rPr>
              <a:t>Daily, weekly, monthly </a:t>
            </a:r>
            <a:r>
              <a:rPr b="1" lang="en" sz="1270">
                <a:solidFill>
                  <a:schemeClr val="dk1"/>
                </a:solidFill>
                <a:latin typeface="Times New Roman"/>
                <a:ea typeface="Times New Roman"/>
                <a:cs typeface="Times New Roman"/>
                <a:sym typeface="Times New Roman"/>
              </a:rPr>
              <a:t>activity trends</a:t>
            </a:r>
            <a:r>
              <a:rPr lang="en" sz="1270">
                <a:solidFill>
                  <a:schemeClr val="dk1"/>
                </a:solidFill>
                <a:latin typeface="Times New Roman"/>
                <a:ea typeface="Times New Roman"/>
                <a:cs typeface="Times New Roman"/>
                <a:sym typeface="Times New Roman"/>
              </a:rPr>
              <a:t>.</a:t>
            </a:r>
            <a:br>
              <a:rPr lang="en" sz="1270">
                <a:solidFill>
                  <a:schemeClr val="dk1"/>
                </a:solidFill>
                <a:latin typeface="Times New Roman"/>
                <a:ea typeface="Times New Roman"/>
                <a:cs typeface="Times New Roman"/>
                <a:sym typeface="Times New Roman"/>
              </a:rPr>
            </a:br>
            <a:endParaRPr sz="1270">
              <a:solidFill>
                <a:schemeClr val="dk1"/>
              </a:solidFill>
              <a:latin typeface="Times New Roman"/>
              <a:ea typeface="Times New Roman"/>
              <a:cs typeface="Times New Roman"/>
              <a:sym typeface="Times New Roman"/>
            </a:endParaRPr>
          </a:p>
          <a:p>
            <a:pPr indent="-309244" lvl="1" marL="914400" rtl="0" algn="l">
              <a:lnSpc>
                <a:spcPct val="95000"/>
              </a:lnSpc>
              <a:spcBef>
                <a:spcPts val="0"/>
              </a:spcBef>
              <a:spcAft>
                <a:spcPts val="0"/>
              </a:spcAft>
              <a:buClr>
                <a:schemeClr val="dk1"/>
              </a:buClr>
              <a:buSzPts val="1270"/>
              <a:buChar char="○"/>
            </a:pPr>
            <a:r>
              <a:rPr b="1" lang="en" sz="1270">
                <a:solidFill>
                  <a:schemeClr val="dk1"/>
                </a:solidFill>
                <a:latin typeface="Times New Roman"/>
                <a:ea typeface="Times New Roman"/>
                <a:cs typeface="Times New Roman"/>
                <a:sym typeface="Times New Roman"/>
              </a:rPr>
              <a:t>Calories burned vs. distance covered</a:t>
            </a:r>
            <a:r>
              <a:rPr lang="en" sz="1270">
                <a:solidFill>
                  <a:schemeClr val="dk1"/>
                </a:solidFill>
                <a:latin typeface="Times New Roman"/>
                <a:ea typeface="Times New Roman"/>
                <a:cs typeface="Times New Roman"/>
                <a:sym typeface="Times New Roman"/>
              </a:rPr>
              <a:t>.</a:t>
            </a:r>
            <a:br>
              <a:rPr lang="en" sz="1270">
                <a:solidFill>
                  <a:schemeClr val="dk1"/>
                </a:solidFill>
                <a:latin typeface="Times New Roman"/>
                <a:ea typeface="Times New Roman"/>
                <a:cs typeface="Times New Roman"/>
                <a:sym typeface="Times New Roman"/>
              </a:rPr>
            </a:br>
            <a:endParaRPr sz="1270">
              <a:solidFill>
                <a:schemeClr val="dk1"/>
              </a:solidFill>
              <a:latin typeface="Times New Roman"/>
              <a:ea typeface="Times New Roman"/>
              <a:cs typeface="Times New Roman"/>
              <a:sym typeface="Times New Roman"/>
            </a:endParaRPr>
          </a:p>
          <a:p>
            <a:pPr indent="-309244" lvl="1" marL="914400" rtl="0" algn="l">
              <a:lnSpc>
                <a:spcPct val="95000"/>
              </a:lnSpc>
              <a:spcBef>
                <a:spcPts val="0"/>
              </a:spcBef>
              <a:spcAft>
                <a:spcPts val="0"/>
              </a:spcAft>
              <a:buClr>
                <a:schemeClr val="dk1"/>
              </a:buClr>
              <a:buSzPts val="1270"/>
              <a:buChar char="○"/>
            </a:pPr>
            <a:r>
              <a:rPr b="1" lang="en" sz="1270">
                <a:solidFill>
                  <a:schemeClr val="dk1"/>
                </a:solidFill>
                <a:latin typeface="Times New Roman"/>
                <a:ea typeface="Times New Roman"/>
                <a:cs typeface="Times New Roman"/>
                <a:sym typeface="Times New Roman"/>
              </a:rPr>
              <a:t>Workout type distribution</a:t>
            </a:r>
            <a:r>
              <a:rPr lang="en" sz="1270">
                <a:solidFill>
                  <a:schemeClr val="dk1"/>
                </a:solidFill>
                <a:latin typeface="Times New Roman"/>
                <a:ea typeface="Times New Roman"/>
                <a:cs typeface="Times New Roman"/>
                <a:sym typeface="Times New Roman"/>
              </a:rPr>
              <a:t>.</a:t>
            </a:r>
            <a:br>
              <a:rPr lang="en" sz="1270">
                <a:solidFill>
                  <a:schemeClr val="dk1"/>
                </a:solidFill>
                <a:latin typeface="Times New Roman"/>
                <a:ea typeface="Times New Roman"/>
                <a:cs typeface="Times New Roman"/>
                <a:sym typeface="Times New Roman"/>
              </a:rPr>
            </a:br>
            <a:endParaRPr sz="1270">
              <a:solidFill>
                <a:schemeClr val="dk1"/>
              </a:solidFill>
              <a:latin typeface="Times New Roman"/>
              <a:ea typeface="Times New Roman"/>
              <a:cs typeface="Times New Roman"/>
              <a:sym typeface="Times New Roman"/>
            </a:endParaRPr>
          </a:p>
          <a:p>
            <a:pPr indent="-309245" lvl="0" marL="457200" rtl="0" algn="l">
              <a:lnSpc>
                <a:spcPct val="95000"/>
              </a:lnSpc>
              <a:spcBef>
                <a:spcPts val="0"/>
              </a:spcBef>
              <a:spcAft>
                <a:spcPts val="0"/>
              </a:spcAft>
              <a:buClr>
                <a:schemeClr val="dk1"/>
              </a:buClr>
              <a:buSzPts val="1270"/>
              <a:buChar char="●"/>
            </a:pPr>
            <a:r>
              <a:rPr lang="en" sz="1270">
                <a:solidFill>
                  <a:schemeClr val="dk1"/>
                </a:solidFill>
                <a:latin typeface="Times New Roman"/>
                <a:ea typeface="Times New Roman"/>
                <a:cs typeface="Times New Roman"/>
                <a:sym typeface="Times New Roman"/>
              </a:rPr>
              <a:t>Created </a:t>
            </a:r>
            <a:r>
              <a:rPr b="1" lang="en" sz="1270">
                <a:solidFill>
                  <a:schemeClr val="dk1"/>
                </a:solidFill>
                <a:latin typeface="Times New Roman"/>
                <a:ea typeface="Times New Roman"/>
                <a:cs typeface="Times New Roman"/>
                <a:sym typeface="Times New Roman"/>
              </a:rPr>
              <a:t>Python (Matplotlib &amp; Seaborn) visualizations</a:t>
            </a:r>
            <a:r>
              <a:rPr lang="en" sz="1270">
                <a:solidFill>
                  <a:schemeClr val="dk1"/>
                </a:solidFill>
                <a:latin typeface="Times New Roman"/>
                <a:ea typeface="Times New Roman"/>
                <a:cs typeface="Times New Roman"/>
                <a:sym typeface="Times New Roman"/>
              </a:rPr>
              <a:t>:</a:t>
            </a:r>
            <a:br>
              <a:rPr lang="en" sz="1270">
                <a:solidFill>
                  <a:schemeClr val="dk1"/>
                </a:solidFill>
                <a:latin typeface="Times New Roman"/>
                <a:ea typeface="Times New Roman"/>
                <a:cs typeface="Times New Roman"/>
                <a:sym typeface="Times New Roman"/>
              </a:rPr>
            </a:br>
            <a:endParaRPr sz="1270">
              <a:solidFill>
                <a:schemeClr val="dk1"/>
              </a:solidFill>
              <a:latin typeface="Times New Roman"/>
              <a:ea typeface="Times New Roman"/>
              <a:cs typeface="Times New Roman"/>
              <a:sym typeface="Times New Roman"/>
            </a:endParaRPr>
          </a:p>
          <a:p>
            <a:pPr indent="-309244" lvl="1" marL="914400" rtl="0" algn="l">
              <a:lnSpc>
                <a:spcPct val="95000"/>
              </a:lnSpc>
              <a:spcBef>
                <a:spcPts val="0"/>
              </a:spcBef>
              <a:spcAft>
                <a:spcPts val="0"/>
              </a:spcAft>
              <a:buClr>
                <a:schemeClr val="dk1"/>
              </a:buClr>
              <a:buSzPts val="1270"/>
              <a:buFont typeface="Times New Roman"/>
              <a:buChar char="○"/>
            </a:pPr>
            <a:r>
              <a:rPr lang="en" sz="1270">
                <a:solidFill>
                  <a:schemeClr val="dk1"/>
                </a:solidFill>
                <a:latin typeface="Times New Roman"/>
                <a:ea typeface="Times New Roman"/>
                <a:cs typeface="Times New Roman"/>
                <a:sym typeface="Times New Roman"/>
              </a:rPr>
              <a:t>Correlation heatmap.</a:t>
            </a:r>
            <a:br>
              <a:rPr lang="en" sz="1270">
                <a:solidFill>
                  <a:schemeClr val="dk1"/>
                </a:solidFill>
                <a:latin typeface="Times New Roman"/>
                <a:ea typeface="Times New Roman"/>
                <a:cs typeface="Times New Roman"/>
                <a:sym typeface="Times New Roman"/>
              </a:rPr>
            </a:br>
            <a:endParaRPr sz="1270">
              <a:solidFill>
                <a:schemeClr val="dk1"/>
              </a:solidFill>
              <a:latin typeface="Times New Roman"/>
              <a:ea typeface="Times New Roman"/>
              <a:cs typeface="Times New Roman"/>
              <a:sym typeface="Times New Roman"/>
            </a:endParaRPr>
          </a:p>
          <a:p>
            <a:pPr indent="-309244" lvl="1" marL="914400" rtl="0" algn="l">
              <a:lnSpc>
                <a:spcPct val="95000"/>
              </a:lnSpc>
              <a:spcBef>
                <a:spcPts val="0"/>
              </a:spcBef>
              <a:spcAft>
                <a:spcPts val="0"/>
              </a:spcAft>
              <a:buClr>
                <a:schemeClr val="dk1"/>
              </a:buClr>
              <a:buSzPts val="1270"/>
              <a:buFont typeface="Times New Roman"/>
              <a:buChar char="○"/>
            </a:pPr>
            <a:r>
              <a:rPr lang="en" sz="1270">
                <a:solidFill>
                  <a:schemeClr val="dk1"/>
                </a:solidFill>
                <a:latin typeface="Times New Roman"/>
                <a:ea typeface="Times New Roman"/>
                <a:cs typeface="Times New Roman"/>
                <a:sym typeface="Times New Roman"/>
              </a:rPr>
              <a:t>Line charts for daily activity &amp; sleep.</a:t>
            </a:r>
            <a:br>
              <a:rPr lang="en" sz="1270">
                <a:solidFill>
                  <a:schemeClr val="dk1"/>
                </a:solidFill>
                <a:latin typeface="Times New Roman"/>
                <a:ea typeface="Times New Roman"/>
                <a:cs typeface="Times New Roman"/>
                <a:sym typeface="Times New Roman"/>
              </a:rPr>
            </a:br>
            <a:endParaRPr sz="1270">
              <a:solidFill>
                <a:schemeClr val="dk1"/>
              </a:solidFill>
              <a:latin typeface="Times New Roman"/>
              <a:ea typeface="Times New Roman"/>
              <a:cs typeface="Times New Roman"/>
              <a:sym typeface="Times New Roman"/>
            </a:endParaRPr>
          </a:p>
          <a:p>
            <a:pPr indent="-309244" lvl="1" marL="914400" rtl="0" algn="l">
              <a:lnSpc>
                <a:spcPct val="95000"/>
              </a:lnSpc>
              <a:spcBef>
                <a:spcPts val="0"/>
              </a:spcBef>
              <a:spcAft>
                <a:spcPts val="0"/>
              </a:spcAft>
              <a:buClr>
                <a:schemeClr val="dk1"/>
              </a:buClr>
              <a:buSzPts val="1270"/>
              <a:buFont typeface="Times New Roman"/>
              <a:buChar char="○"/>
            </a:pPr>
            <a:r>
              <a:rPr lang="en" sz="1270">
                <a:solidFill>
                  <a:schemeClr val="dk1"/>
                </a:solidFill>
                <a:latin typeface="Times New Roman"/>
                <a:ea typeface="Times New Roman"/>
                <a:cs typeface="Times New Roman"/>
                <a:sym typeface="Times New Roman"/>
              </a:rPr>
              <a:t>Histograms of step counts &amp; distance.</a:t>
            </a:r>
            <a:br>
              <a:rPr lang="en" sz="1270">
                <a:solidFill>
                  <a:schemeClr val="dk1"/>
                </a:solidFill>
                <a:latin typeface="Times New Roman"/>
                <a:ea typeface="Times New Roman"/>
                <a:cs typeface="Times New Roman"/>
                <a:sym typeface="Times New Roman"/>
              </a:rPr>
            </a:br>
            <a:endParaRPr sz="1270">
              <a:solidFill>
                <a:schemeClr val="dk1"/>
              </a:solidFill>
              <a:latin typeface="Times New Roman"/>
              <a:ea typeface="Times New Roman"/>
              <a:cs typeface="Times New Roman"/>
              <a:sym typeface="Times New Roman"/>
            </a:endParaRPr>
          </a:p>
          <a:p>
            <a:pPr indent="-309245" lvl="0" marL="457200" rtl="0" algn="l">
              <a:lnSpc>
                <a:spcPct val="95000"/>
              </a:lnSpc>
              <a:spcBef>
                <a:spcPts val="0"/>
              </a:spcBef>
              <a:spcAft>
                <a:spcPts val="0"/>
              </a:spcAft>
              <a:buClr>
                <a:schemeClr val="dk1"/>
              </a:buClr>
              <a:buSzPts val="1270"/>
              <a:buChar char="●"/>
            </a:pPr>
            <a:r>
              <a:rPr lang="en" sz="1270">
                <a:solidFill>
                  <a:schemeClr val="dk1"/>
                </a:solidFill>
                <a:latin typeface="Times New Roman"/>
                <a:ea typeface="Times New Roman"/>
                <a:cs typeface="Times New Roman"/>
                <a:sym typeface="Times New Roman"/>
              </a:rPr>
              <a:t>Shared insights combining </a:t>
            </a:r>
            <a:r>
              <a:rPr b="1" lang="en" sz="1270">
                <a:solidFill>
                  <a:schemeClr val="dk1"/>
                </a:solidFill>
                <a:latin typeface="Times New Roman"/>
                <a:ea typeface="Times New Roman"/>
                <a:cs typeface="Times New Roman"/>
                <a:sym typeface="Times New Roman"/>
              </a:rPr>
              <a:t>Power BI dashboards</a:t>
            </a:r>
            <a:r>
              <a:rPr lang="en" sz="1270">
                <a:solidFill>
                  <a:schemeClr val="dk1"/>
                </a:solidFill>
                <a:latin typeface="Times New Roman"/>
                <a:ea typeface="Times New Roman"/>
                <a:cs typeface="Times New Roman"/>
                <a:sym typeface="Times New Roman"/>
              </a:rPr>
              <a:t> and </a:t>
            </a:r>
            <a:r>
              <a:rPr b="1" lang="en" sz="1270">
                <a:solidFill>
                  <a:schemeClr val="dk1"/>
                </a:solidFill>
                <a:latin typeface="Times New Roman"/>
                <a:ea typeface="Times New Roman"/>
                <a:cs typeface="Times New Roman"/>
                <a:sym typeface="Times New Roman"/>
              </a:rPr>
              <a:t>Python charts</a:t>
            </a:r>
            <a:r>
              <a:rPr lang="en" sz="1270">
                <a:solidFill>
                  <a:schemeClr val="dk1"/>
                </a:solidFill>
                <a:latin typeface="Times New Roman"/>
                <a:ea typeface="Times New Roman"/>
                <a:cs typeface="Times New Roman"/>
                <a:sym typeface="Times New Roman"/>
              </a:rPr>
              <a:t>.</a:t>
            </a:r>
            <a:br>
              <a:rPr lang="en" sz="1270">
                <a:solidFill>
                  <a:schemeClr val="dk1"/>
                </a:solidFill>
                <a:latin typeface="Times New Roman"/>
                <a:ea typeface="Times New Roman"/>
                <a:cs typeface="Times New Roman"/>
                <a:sym typeface="Times New Roman"/>
              </a:rPr>
            </a:br>
            <a:endParaRPr sz="1470">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3"/>
          <p:cNvSpPr txBox="1"/>
          <p:nvPr>
            <p:ph idx="1" type="body"/>
          </p:nvPr>
        </p:nvSpPr>
        <p:spPr>
          <a:xfrm>
            <a:off x="311700" y="320000"/>
            <a:ext cx="8520600" cy="3416400"/>
          </a:xfrm>
          <a:prstGeom prst="rect">
            <a:avLst/>
          </a:prstGeom>
        </p:spPr>
        <p:txBody>
          <a:bodyPr anchorCtr="0" anchor="t" bIns="91425" lIns="91425" spcFirstLastPara="1" rIns="91425" wrap="square" tIns="91425">
            <a:normAutofit/>
          </a:bodyPr>
          <a:lstStyle/>
          <a:p>
            <a:pPr indent="0" lvl="0" marL="0" rtl="0" algn="l">
              <a:lnSpc>
                <a:spcPct val="95000"/>
              </a:lnSpc>
              <a:spcBef>
                <a:spcPts val="1200"/>
              </a:spcBef>
              <a:spcAft>
                <a:spcPts val="0"/>
              </a:spcAft>
              <a:buClr>
                <a:schemeClr val="dk1"/>
              </a:buClr>
              <a:buSzPts val="770"/>
              <a:buFont typeface="Arial"/>
              <a:buNone/>
            </a:pPr>
            <a:r>
              <a:rPr b="1" lang="en" sz="1370">
                <a:solidFill>
                  <a:schemeClr val="dk1"/>
                </a:solidFill>
                <a:latin typeface="Times New Roman"/>
                <a:ea typeface="Times New Roman"/>
                <a:cs typeface="Times New Roman"/>
                <a:sym typeface="Times New Roman"/>
              </a:rPr>
              <a:t>Visual Elements to Insert:</a:t>
            </a:r>
            <a:endParaRPr b="1" sz="1370">
              <a:solidFill>
                <a:schemeClr val="dk1"/>
              </a:solidFill>
              <a:latin typeface="Times New Roman"/>
              <a:ea typeface="Times New Roman"/>
              <a:cs typeface="Times New Roman"/>
              <a:sym typeface="Times New Roman"/>
            </a:endParaRPr>
          </a:p>
          <a:p>
            <a:pPr indent="-315595" lvl="0" marL="457200" rtl="0" algn="l">
              <a:lnSpc>
                <a:spcPct val="95000"/>
              </a:lnSpc>
              <a:spcBef>
                <a:spcPts val="1200"/>
              </a:spcBef>
              <a:spcAft>
                <a:spcPts val="0"/>
              </a:spcAft>
              <a:buClr>
                <a:schemeClr val="dk1"/>
              </a:buClr>
              <a:buSzPts val="1370"/>
              <a:buFont typeface="Times New Roman"/>
              <a:buChar char="●"/>
            </a:pPr>
            <a:r>
              <a:rPr lang="en" sz="1370">
                <a:solidFill>
                  <a:schemeClr val="dk1"/>
                </a:solidFill>
                <a:latin typeface="Times New Roman"/>
                <a:ea typeface="Times New Roman"/>
                <a:cs typeface="Times New Roman"/>
                <a:sym typeface="Times New Roman"/>
              </a:rPr>
              <a:t>Screenshots of Power BI dashboard pages.</a:t>
            </a:r>
            <a:br>
              <a:rPr lang="en" sz="1370">
                <a:solidFill>
                  <a:schemeClr val="dk1"/>
                </a:solidFill>
                <a:latin typeface="Times New Roman"/>
                <a:ea typeface="Times New Roman"/>
                <a:cs typeface="Times New Roman"/>
                <a:sym typeface="Times New Roman"/>
              </a:rPr>
            </a:br>
            <a:endParaRPr sz="1370">
              <a:solidFill>
                <a:schemeClr val="dk1"/>
              </a:solidFill>
              <a:latin typeface="Times New Roman"/>
              <a:ea typeface="Times New Roman"/>
              <a:cs typeface="Times New Roman"/>
              <a:sym typeface="Times New Roman"/>
            </a:endParaRPr>
          </a:p>
          <a:p>
            <a:pPr indent="-315595" lvl="0" marL="457200" rtl="0" algn="l">
              <a:lnSpc>
                <a:spcPct val="95000"/>
              </a:lnSpc>
              <a:spcBef>
                <a:spcPts val="0"/>
              </a:spcBef>
              <a:spcAft>
                <a:spcPts val="0"/>
              </a:spcAft>
              <a:buClr>
                <a:schemeClr val="dk1"/>
              </a:buClr>
              <a:buSzPts val="1370"/>
              <a:buFont typeface="Times New Roman"/>
              <a:buChar char="●"/>
            </a:pPr>
            <a:r>
              <a:rPr lang="en" sz="1370">
                <a:solidFill>
                  <a:schemeClr val="dk1"/>
                </a:solidFill>
                <a:latin typeface="Times New Roman"/>
                <a:ea typeface="Times New Roman"/>
                <a:cs typeface="Times New Roman"/>
                <a:sym typeface="Times New Roman"/>
              </a:rPr>
              <a:t>Example Python plots (heatmap, histogram, line chart).</a:t>
            </a:r>
            <a:endParaRPr sz="1370">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sz="2300">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4"/>
          <p:cNvSpPr txBox="1"/>
          <p:nvPr>
            <p:ph type="title"/>
          </p:nvPr>
        </p:nvSpPr>
        <p:spPr>
          <a:xfrm>
            <a:off x="311700" y="1402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400">
                <a:solidFill>
                  <a:schemeClr val="dk2"/>
                </a:solidFill>
                <a:highlight>
                  <a:srgbClr val="FFFFFF"/>
                </a:highlight>
                <a:latin typeface="Times New Roman"/>
                <a:ea typeface="Times New Roman"/>
                <a:cs typeface="Times New Roman"/>
                <a:sym typeface="Times New Roman"/>
              </a:rPr>
              <a:t>7. Conclusion &amp; Recommendations</a:t>
            </a:r>
            <a:endParaRPr b="1" sz="2400">
              <a:solidFill>
                <a:schemeClr val="dk2"/>
              </a:solidFill>
              <a:highlight>
                <a:srgbClr val="FFFFFF"/>
              </a:highlight>
              <a:latin typeface="Times New Roman"/>
              <a:ea typeface="Times New Roman"/>
              <a:cs typeface="Times New Roman"/>
              <a:sym typeface="Times New Roman"/>
            </a:endParaRPr>
          </a:p>
        </p:txBody>
      </p:sp>
      <p:sp>
        <p:nvSpPr>
          <p:cNvPr id="119" name="Google Shape;119;p24"/>
          <p:cNvSpPr txBox="1"/>
          <p:nvPr>
            <p:ph idx="1" type="body"/>
          </p:nvPr>
        </p:nvSpPr>
        <p:spPr>
          <a:xfrm>
            <a:off x="311700" y="712925"/>
            <a:ext cx="8520600" cy="4296600"/>
          </a:xfrm>
          <a:prstGeom prst="rect">
            <a:avLst/>
          </a:prstGeom>
        </p:spPr>
        <p:txBody>
          <a:bodyPr anchorCtr="0" anchor="t" bIns="91425" lIns="91425" spcFirstLastPara="1" rIns="91425" wrap="square" tIns="91425">
            <a:noAutofit/>
          </a:bodyPr>
          <a:lstStyle/>
          <a:p>
            <a:pPr indent="0" lvl="0" marL="0" rtl="0" algn="l">
              <a:lnSpc>
                <a:spcPct val="105000"/>
              </a:lnSpc>
              <a:spcBef>
                <a:spcPts val="1200"/>
              </a:spcBef>
              <a:spcAft>
                <a:spcPts val="0"/>
              </a:spcAft>
              <a:buClr>
                <a:schemeClr val="dk1"/>
              </a:buClr>
              <a:buSzPts val="605"/>
              <a:buFont typeface="Arial"/>
              <a:buNone/>
            </a:pPr>
            <a:r>
              <a:rPr b="1" lang="en" sz="1405">
                <a:solidFill>
                  <a:schemeClr val="dk1"/>
                </a:solidFill>
                <a:latin typeface="Times New Roman"/>
                <a:ea typeface="Times New Roman"/>
                <a:cs typeface="Times New Roman"/>
                <a:sym typeface="Times New Roman"/>
              </a:rPr>
              <a:t>7.1 Conclusion:</a:t>
            </a:r>
            <a:endParaRPr b="1" sz="1405">
              <a:solidFill>
                <a:schemeClr val="dk1"/>
              </a:solidFill>
              <a:latin typeface="Times New Roman"/>
              <a:ea typeface="Times New Roman"/>
              <a:cs typeface="Times New Roman"/>
              <a:sym typeface="Times New Roman"/>
            </a:endParaRPr>
          </a:p>
          <a:p>
            <a:pPr indent="-305117" lvl="0" marL="457200" rtl="0" algn="l">
              <a:lnSpc>
                <a:spcPct val="105000"/>
              </a:lnSpc>
              <a:spcBef>
                <a:spcPts val="1200"/>
              </a:spcBef>
              <a:spcAft>
                <a:spcPts val="0"/>
              </a:spcAft>
              <a:buClr>
                <a:schemeClr val="dk1"/>
              </a:buClr>
              <a:buSzPts val="1205"/>
              <a:buChar char="●"/>
            </a:pPr>
            <a:r>
              <a:rPr lang="en" sz="1205">
                <a:solidFill>
                  <a:schemeClr val="dk1"/>
                </a:solidFill>
                <a:latin typeface="Times New Roman"/>
                <a:ea typeface="Times New Roman"/>
                <a:cs typeface="Times New Roman"/>
                <a:sym typeface="Times New Roman"/>
              </a:rPr>
              <a:t>Successfully a</a:t>
            </a:r>
            <a:r>
              <a:rPr lang="en" sz="1405">
                <a:solidFill>
                  <a:schemeClr val="dk1"/>
                </a:solidFill>
                <a:latin typeface="Times New Roman"/>
                <a:ea typeface="Times New Roman"/>
                <a:cs typeface="Times New Roman"/>
                <a:sym typeface="Times New Roman"/>
              </a:rPr>
              <a:t>nalyzed </a:t>
            </a:r>
            <a:r>
              <a:rPr b="1" lang="en" sz="1405">
                <a:solidFill>
                  <a:schemeClr val="dk1"/>
                </a:solidFill>
                <a:latin typeface="Times New Roman"/>
                <a:ea typeface="Times New Roman"/>
                <a:cs typeface="Times New Roman"/>
                <a:sym typeface="Times New Roman"/>
              </a:rPr>
              <a:t>fitness activity, calories, distance, and sleep data</a:t>
            </a:r>
            <a:r>
              <a:rPr lang="en" sz="1405">
                <a:solidFill>
                  <a:schemeClr val="dk1"/>
                </a:solidFill>
                <a:latin typeface="Times New Roman"/>
                <a:ea typeface="Times New Roman"/>
                <a:cs typeface="Times New Roman"/>
                <a:sym typeface="Times New Roman"/>
              </a:rPr>
              <a:t>.</a:t>
            </a:r>
            <a:br>
              <a:rPr lang="en" sz="1405">
                <a:solidFill>
                  <a:schemeClr val="dk1"/>
                </a:solidFill>
                <a:latin typeface="Times New Roman"/>
                <a:ea typeface="Times New Roman"/>
                <a:cs typeface="Times New Roman"/>
                <a:sym typeface="Times New Roman"/>
              </a:rPr>
            </a:br>
            <a:endParaRPr sz="1405">
              <a:solidFill>
                <a:schemeClr val="dk1"/>
              </a:solidFill>
              <a:latin typeface="Times New Roman"/>
              <a:ea typeface="Times New Roman"/>
              <a:cs typeface="Times New Roman"/>
              <a:sym typeface="Times New Roman"/>
            </a:endParaRPr>
          </a:p>
          <a:p>
            <a:pPr indent="-317817" lvl="0" marL="457200" rtl="0" algn="l">
              <a:lnSpc>
                <a:spcPct val="105000"/>
              </a:lnSpc>
              <a:spcBef>
                <a:spcPts val="0"/>
              </a:spcBef>
              <a:spcAft>
                <a:spcPts val="0"/>
              </a:spcAft>
              <a:buClr>
                <a:schemeClr val="dk1"/>
              </a:buClr>
              <a:buSzPts val="1405"/>
              <a:buChar char="●"/>
            </a:pPr>
            <a:r>
              <a:rPr lang="en" sz="1405">
                <a:solidFill>
                  <a:schemeClr val="dk1"/>
                </a:solidFill>
                <a:latin typeface="Times New Roman"/>
                <a:ea typeface="Times New Roman"/>
                <a:cs typeface="Times New Roman"/>
                <a:sym typeface="Times New Roman"/>
              </a:rPr>
              <a:t>Power BI dashboards and Python visualizations revealed </a:t>
            </a:r>
            <a:r>
              <a:rPr b="1" lang="en" sz="1405">
                <a:solidFill>
                  <a:schemeClr val="dk1"/>
                </a:solidFill>
                <a:latin typeface="Times New Roman"/>
                <a:ea typeface="Times New Roman"/>
                <a:cs typeface="Times New Roman"/>
                <a:sym typeface="Times New Roman"/>
              </a:rPr>
              <a:t>clear user patterns</a:t>
            </a:r>
            <a:r>
              <a:rPr lang="en" sz="1405">
                <a:solidFill>
                  <a:schemeClr val="dk1"/>
                </a:solidFill>
                <a:latin typeface="Times New Roman"/>
                <a:ea typeface="Times New Roman"/>
                <a:cs typeface="Times New Roman"/>
                <a:sym typeface="Times New Roman"/>
              </a:rPr>
              <a:t>.</a:t>
            </a:r>
            <a:br>
              <a:rPr lang="en" sz="1405">
                <a:solidFill>
                  <a:schemeClr val="dk1"/>
                </a:solidFill>
                <a:latin typeface="Times New Roman"/>
                <a:ea typeface="Times New Roman"/>
                <a:cs typeface="Times New Roman"/>
                <a:sym typeface="Times New Roman"/>
              </a:rPr>
            </a:br>
            <a:endParaRPr sz="1405">
              <a:solidFill>
                <a:schemeClr val="dk1"/>
              </a:solidFill>
              <a:latin typeface="Times New Roman"/>
              <a:ea typeface="Times New Roman"/>
              <a:cs typeface="Times New Roman"/>
              <a:sym typeface="Times New Roman"/>
            </a:endParaRPr>
          </a:p>
          <a:p>
            <a:pPr indent="-317817" lvl="0" marL="457200" rtl="0" algn="l">
              <a:lnSpc>
                <a:spcPct val="105000"/>
              </a:lnSpc>
              <a:spcBef>
                <a:spcPts val="0"/>
              </a:spcBef>
              <a:spcAft>
                <a:spcPts val="0"/>
              </a:spcAft>
              <a:buClr>
                <a:schemeClr val="dk1"/>
              </a:buClr>
              <a:buSzPts val="1405"/>
              <a:buChar char="●"/>
            </a:pPr>
            <a:r>
              <a:rPr lang="en" sz="1405">
                <a:solidFill>
                  <a:schemeClr val="dk1"/>
                </a:solidFill>
                <a:latin typeface="Times New Roman"/>
                <a:ea typeface="Times New Roman"/>
                <a:cs typeface="Times New Roman"/>
                <a:sym typeface="Times New Roman"/>
              </a:rPr>
              <a:t>Identified </a:t>
            </a:r>
            <a:r>
              <a:rPr b="1" lang="en" sz="1405">
                <a:solidFill>
                  <a:schemeClr val="dk1"/>
                </a:solidFill>
                <a:latin typeface="Times New Roman"/>
                <a:ea typeface="Times New Roman"/>
                <a:cs typeface="Times New Roman"/>
                <a:sym typeface="Times New Roman"/>
              </a:rPr>
              <a:t>active vs. less-active users</a:t>
            </a:r>
            <a:r>
              <a:rPr lang="en" sz="1405">
                <a:solidFill>
                  <a:schemeClr val="dk1"/>
                </a:solidFill>
                <a:latin typeface="Times New Roman"/>
                <a:ea typeface="Times New Roman"/>
                <a:cs typeface="Times New Roman"/>
                <a:sym typeface="Times New Roman"/>
              </a:rPr>
              <a:t> through trends in steps, distance, and calories.</a:t>
            </a:r>
            <a:br>
              <a:rPr lang="en" sz="1405">
                <a:solidFill>
                  <a:schemeClr val="dk1"/>
                </a:solidFill>
                <a:latin typeface="Times New Roman"/>
                <a:ea typeface="Times New Roman"/>
                <a:cs typeface="Times New Roman"/>
                <a:sym typeface="Times New Roman"/>
              </a:rPr>
            </a:br>
            <a:endParaRPr sz="1405">
              <a:solidFill>
                <a:schemeClr val="dk1"/>
              </a:solidFill>
              <a:latin typeface="Times New Roman"/>
              <a:ea typeface="Times New Roman"/>
              <a:cs typeface="Times New Roman"/>
              <a:sym typeface="Times New Roman"/>
            </a:endParaRPr>
          </a:p>
          <a:p>
            <a:pPr indent="-305117" lvl="0" marL="457200" rtl="0" algn="l">
              <a:lnSpc>
                <a:spcPct val="105000"/>
              </a:lnSpc>
              <a:spcBef>
                <a:spcPts val="1200"/>
              </a:spcBef>
              <a:spcAft>
                <a:spcPts val="0"/>
              </a:spcAft>
              <a:buClr>
                <a:schemeClr val="dk1"/>
              </a:buClr>
              <a:buSzPts val="1205"/>
              <a:buChar char="●"/>
            </a:pPr>
            <a:r>
              <a:rPr lang="en" sz="1405">
                <a:solidFill>
                  <a:schemeClr val="dk1"/>
                </a:solidFill>
                <a:latin typeface="Times New Roman"/>
                <a:ea typeface="Times New Roman"/>
                <a:cs typeface="Times New Roman"/>
                <a:sym typeface="Times New Roman"/>
              </a:rPr>
              <a:t>Correlation an</a:t>
            </a:r>
            <a:r>
              <a:rPr lang="en" sz="1205">
                <a:solidFill>
                  <a:schemeClr val="dk1"/>
                </a:solidFill>
                <a:latin typeface="Times New Roman"/>
                <a:ea typeface="Times New Roman"/>
                <a:cs typeface="Times New Roman"/>
                <a:sym typeface="Times New Roman"/>
              </a:rPr>
              <a:t>alysis showed </a:t>
            </a:r>
            <a:r>
              <a:rPr b="1" lang="en" sz="1205">
                <a:solidFill>
                  <a:schemeClr val="dk1"/>
                </a:solidFill>
                <a:latin typeface="Times New Roman"/>
                <a:ea typeface="Times New Roman"/>
                <a:cs typeface="Times New Roman"/>
                <a:sym typeface="Times New Roman"/>
              </a:rPr>
              <a:t>strong links between distance, steps, and calories burned</a:t>
            </a:r>
            <a:r>
              <a:rPr lang="en" sz="1205">
                <a:solidFill>
                  <a:schemeClr val="dk1"/>
                </a:solidFill>
                <a:latin typeface="Times New Roman"/>
                <a:ea typeface="Times New Roman"/>
                <a:cs typeface="Times New Roman"/>
                <a:sym typeface="Times New Roman"/>
              </a:rPr>
              <a:t>.</a:t>
            </a:r>
            <a:endParaRPr sz="1205">
              <a:solidFill>
                <a:schemeClr val="dk1"/>
              </a:solidFill>
              <a:latin typeface="Times New Roman"/>
              <a:ea typeface="Times New Roman"/>
              <a:cs typeface="Times New Roman"/>
              <a:sym typeface="Times New Roman"/>
            </a:endParaRPr>
          </a:p>
          <a:p>
            <a:pPr indent="0" lvl="0" marL="0" rtl="0" algn="l">
              <a:lnSpc>
                <a:spcPct val="105000"/>
              </a:lnSpc>
              <a:spcBef>
                <a:spcPts val="1200"/>
              </a:spcBef>
              <a:spcAft>
                <a:spcPts val="0"/>
              </a:spcAft>
              <a:buClr>
                <a:schemeClr val="dk1"/>
              </a:buClr>
              <a:buSzPts val="605"/>
              <a:buFont typeface="Arial"/>
              <a:buNone/>
            </a:pPr>
            <a:r>
              <a:rPr b="1" lang="en" sz="1405">
                <a:solidFill>
                  <a:schemeClr val="dk1"/>
                </a:solidFill>
                <a:latin typeface="Times New Roman"/>
                <a:ea typeface="Times New Roman"/>
                <a:cs typeface="Times New Roman"/>
                <a:sym typeface="Times New Roman"/>
              </a:rPr>
              <a:t>7.2 Recommendations:</a:t>
            </a:r>
            <a:endParaRPr b="1" sz="1405">
              <a:solidFill>
                <a:schemeClr val="dk1"/>
              </a:solidFill>
              <a:latin typeface="Times New Roman"/>
              <a:ea typeface="Times New Roman"/>
              <a:cs typeface="Times New Roman"/>
              <a:sym typeface="Times New Roman"/>
            </a:endParaRPr>
          </a:p>
          <a:p>
            <a:pPr indent="-305117" lvl="0" marL="457200" rtl="0" algn="l">
              <a:lnSpc>
                <a:spcPct val="105000"/>
              </a:lnSpc>
              <a:spcBef>
                <a:spcPts val="1200"/>
              </a:spcBef>
              <a:spcAft>
                <a:spcPts val="0"/>
              </a:spcAft>
              <a:buClr>
                <a:schemeClr val="dk1"/>
              </a:buClr>
              <a:buSzPts val="1205"/>
              <a:buChar char="●"/>
            </a:pPr>
            <a:r>
              <a:rPr lang="en" sz="1205">
                <a:solidFill>
                  <a:schemeClr val="dk1"/>
                </a:solidFill>
                <a:latin typeface="Times New Roman"/>
                <a:ea typeface="Times New Roman"/>
                <a:cs typeface="Times New Roman"/>
                <a:sym typeface="Times New Roman"/>
              </a:rPr>
              <a:t>En</a:t>
            </a:r>
            <a:r>
              <a:rPr lang="en" sz="1405">
                <a:solidFill>
                  <a:schemeClr val="dk1"/>
                </a:solidFill>
                <a:latin typeface="Times New Roman"/>
                <a:ea typeface="Times New Roman"/>
                <a:cs typeface="Times New Roman"/>
                <a:sym typeface="Times New Roman"/>
              </a:rPr>
              <a:t>courage </a:t>
            </a:r>
            <a:r>
              <a:rPr b="1" lang="en" sz="1405">
                <a:solidFill>
                  <a:schemeClr val="dk1"/>
                </a:solidFill>
                <a:latin typeface="Times New Roman"/>
                <a:ea typeface="Times New Roman"/>
                <a:cs typeface="Times New Roman"/>
                <a:sym typeface="Times New Roman"/>
              </a:rPr>
              <a:t>consistency in daily activity</a:t>
            </a:r>
            <a:r>
              <a:rPr lang="en" sz="1405">
                <a:solidFill>
                  <a:schemeClr val="dk1"/>
                </a:solidFill>
                <a:latin typeface="Times New Roman"/>
                <a:ea typeface="Times New Roman"/>
                <a:cs typeface="Times New Roman"/>
                <a:sym typeface="Times New Roman"/>
              </a:rPr>
              <a:t> with app reminders.</a:t>
            </a:r>
            <a:br>
              <a:rPr lang="en" sz="1405">
                <a:solidFill>
                  <a:schemeClr val="dk1"/>
                </a:solidFill>
                <a:latin typeface="Times New Roman"/>
                <a:ea typeface="Times New Roman"/>
                <a:cs typeface="Times New Roman"/>
                <a:sym typeface="Times New Roman"/>
              </a:rPr>
            </a:br>
            <a:endParaRPr sz="1405">
              <a:solidFill>
                <a:schemeClr val="dk1"/>
              </a:solidFill>
              <a:latin typeface="Times New Roman"/>
              <a:ea typeface="Times New Roman"/>
              <a:cs typeface="Times New Roman"/>
              <a:sym typeface="Times New Roman"/>
            </a:endParaRPr>
          </a:p>
          <a:p>
            <a:pPr indent="-317817" lvl="0" marL="457200" rtl="0" algn="l">
              <a:lnSpc>
                <a:spcPct val="105000"/>
              </a:lnSpc>
              <a:spcBef>
                <a:spcPts val="0"/>
              </a:spcBef>
              <a:spcAft>
                <a:spcPts val="0"/>
              </a:spcAft>
              <a:buClr>
                <a:schemeClr val="dk1"/>
              </a:buClr>
              <a:buSzPts val="1405"/>
              <a:buChar char="●"/>
            </a:pPr>
            <a:r>
              <a:rPr lang="en" sz="1405">
                <a:solidFill>
                  <a:schemeClr val="dk1"/>
                </a:solidFill>
                <a:latin typeface="Times New Roman"/>
                <a:ea typeface="Times New Roman"/>
                <a:cs typeface="Times New Roman"/>
                <a:sym typeface="Times New Roman"/>
              </a:rPr>
              <a:t>Personalize insights for </a:t>
            </a:r>
            <a:r>
              <a:rPr b="1" lang="en" sz="1405">
                <a:solidFill>
                  <a:schemeClr val="dk1"/>
                </a:solidFill>
                <a:latin typeface="Times New Roman"/>
                <a:ea typeface="Times New Roman"/>
                <a:cs typeface="Times New Roman"/>
                <a:sym typeface="Times New Roman"/>
              </a:rPr>
              <a:t>less-active users</a:t>
            </a:r>
            <a:r>
              <a:rPr lang="en" sz="1405">
                <a:solidFill>
                  <a:schemeClr val="dk1"/>
                </a:solidFill>
                <a:latin typeface="Times New Roman"/>
                <a:ea typeface="Times New Roman"/>
                <a:cs typeface="Times New Roman"/>
                <a:sym typeface="Times New Roman"/>
              </a:rPr>
              <a:t> to boost engagement.</a:t>
            </a:r>
            <a:br>
              <a:rPr lang="en" sz="1405">
                <a:solidFill>
                  <a:schemeClr val="dk1"/>
                </a:solidFill>
                <a:latin typeface="Times New Roman"/>
                <a:ea typeface="Times New Roman"/>
                <a:cs typeface="Times New Roman"/>
                <a:sym typeface="Times New Roman"/>
              </a:rPr>
            </a:br>
            <a:endParaRPr sz="1405">
              <a:solidFill>
                <a:schemeClr val="dk1"/>
              </a:solidFill>
              <a:latin typeface="Times New Roman"/>
              <a:ea typeface="Times New Roman"/>
              <a:cs typeface="Times New Roman"/>
              <a:sym typeface="Times New Roman"/>
            </a:endParaRPr>
          </a:p>
          <a:p>
            <a:pPr indent="-317817" lvl="0" marL="457200" rtl="0" algn="l">
              <a:lnSpc>
                <a:spcPct val="105000"/>
              </a:lnSpc>
              <a:spcBef>
                <a:spcPts val="0"/>
              </a:spcBef>
              <a:spcAft>
                <a:spcPts val="0"/>
              </a:spcAft>
              <a:buClr>
                <a:schemeClr val="dk1"/>
              </a:buClr>
              <a:buSzPts val="1405"/>
              <a:buChar char="●"/>
            </a:pPr>
            <a:r>
              <a:rPr lang="en" sz="1405">
                <a:solidFill>
                  <a:schemeClr val="dk1"/>
                </a:solidFill>
                <a:latin typeface="Times New Roman"/>
                <a:ea typeface="Times New Roman"/>
                <a:cs typeface="Times New Roman"/>
                <a:sym typeface="Times New Roman"/>
              </a:rPr>
              <a:t>Promote </a:t>
            </a:r>
            <a:r>
              <a:rPr b="1" lang="en" sz="1405">
                <a:solidFill>
                  <a:schemeClr val="dk1"/>
                </a:solidFill>
                <a:latin typeface="Times New Roman"/>
                <a:ea typeface="Times New Roman"/>
                <a:cs typeface="Times New Roman"/>
                <a:sym typeface="Times New Roman"/>
              </a:rPr>
              <a:t>balanced workout routines</a:t>
            </a:r>
            <a:r>
              <a:rPr lang="en" sz="1405">
                <a:solidFill>
                  <a:schemeClr val="dk1"/>
                </a:solidFill>
                <a:latin typeface="Times New Roman"/>
                <a:ea typeface="Times New Roman"/>
                <a:cs typeface="Times New Roman"/>
                <a:sym typeface="Times New Roman"/>
              </a:rPr>
              <a:t> by highlighting workout-type distribution.</a:t>
            </a:r>
            <a:br>
              <a:rPr lang="en" sz="1405">
                <a:solidFill>
                  <a:schemeClr val="dk1"/>
                </a:solidFill>
                <a:latin typeface="Times New Roman"/>
                <a:ea typeface="Times New Roman"/>
                <a:cs typeface="Times New Roman"/>
                <a:sym typeface="Times New Roman"/>
              </a:rPr>
            </a:br>
            <a:endParaRPr sz="1405">
              <a:solidFill>
                <a:schemeClr val="dk1"/>
              </a:solidFill>
              <a:latin typeface="Times New Roman"/>
              <a:ea typeface="Times New Roman"/>
              <a:cs typeface="Times New Roman"/>
              <a:sym typeface="Times New Roman"/>
            </a:endParaRPr>
          </a:p>
          <a:p>
            <a:pPr indent="-305117" lvl="0" marL="457200" rtl="0" algn="l">
              <a:lnSpc>
                <a:spcPct val="105000"/>
              </a:lnSpc>
              <a:spcBef>
                <a:spcPts val="0"/>
              </a:spcBef>
              <a:spcAft>
                <a:spcPts val="0"/>
              </a:spcAft>
              <a:buClr>
                <a:schemeClr val="dk1"/>
              </a:buClr>
              <a:buSzPts val="1205"/>
              <a:buChar char="●"/>
            </a:pPr>
            <a:r>
              <a:rPr lang="en" sz="1405">
                <a:solidFill>
                  <a:schemeClr val="dk1"/>
                </a:solidFill>
                <a:latin typeface="Times New Roman"/>
                <a:ea typeface="Times New Roman"/>
                <a:cs typeface="Times New Roman"/>
                <a:sym typeface="Times New Roman"/>
              </a:rPr>
              <a:t>U</a:t>
            </a:r>
            <a:r>
              <a:rPr lang="en" sz="1205">
                <a:solidFill>
                  <a:schemeClr val="dk1"/>
                </a:solidFill>
                <a:latin typeface="Times New Roman"/>
                <a:ea typeface="Times New Roman"/>
                <a:cs typeface="Times New Roman"/>
                <a:sym typeface="Times New Roman"/>
              </a:rPr>
              <a:t>se data-driven insights to design </a:t>
            </a:r>
            <a:r>
              <a:rPr b="1" lang="en" sz="1205">
                <a:solidFill>
                  <a:schemeClr val="dk1"/>
                </a:solidFill>
                <a:latin typeface="Times New Roman"/>
                <a:ea typeface="Times New Roman"/>
                <a:cs typeface="Times New Roman"/>
                <a:sym typeface="Times New Roman"/>
              </a:rPr>
              <a:t>fitness challenges &amp; reward programs</a:t>
            </a:r>
            <a:r>
              <a:rPr lang="en" sz="1205">
                <a:solidFill>
                  <a:schemeClr val="dk1"/>
                </a:solidFill>
                <a:latin typeface="Times New Roman"/>
                <a:ea typeface="Times New Roman"/>
                <a:cs typeface="Times New Roman"/>
                <a:sym typeface="Times New Roman"/>
              </a:rPr>
              <a:t>.</a:t>
            </a:r>
            <a:br>
              <a:rPr lang="en" sz="1205">
                <a:solidFill>
                  <a:schemeClr val="dk1"/>
                </a:solidFill>
                <a:latin typeface="Times New Roman"/>
                <a:ea typeface="Times New Roman"/>
                <a:cs typeface="Times New Roman"/>
                <a:sym typeface="Times New Roman"/>
              </a:rPr>
            </a:br>
            <a:endParaRPr sz="1205">
              <a:solidFill>
                <a:schemeClr val="dk1"/>
              </a:solidFill>
              <a:latin typeface="Times New Roman"/>
              <a:ea typeface="Times New Roman"/>
              <a:cs typeface="Times New Roman"/>
              <a:sym typeface="Times New Roman"/>
            </a:endParaRPr>
          </a:p>
          <a:p>
            <a:pPr indent="0" lvl="0" marL="0" rtl="0" algn="l">
              <a:lnSpc>
                <a:spcPct val="105000"/>
              </a:lnSpc>
              <a:spcBef>
                <a:spcPts val="1200"/>
              </a:spcBef>
              <a:spcAft>
                <a:spcPts val="1200"/>
              </a:spcAft>
              <a:buSzPts val="605"/>
              <a:buNone/>
            </a:pPr>
            <a:r>
              <a:t/>
            </a:r>
            <a:endParaRPr sz="1590">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5"/>
          <p:cNvSpPr txBox="1"/>
          <p:nvPr>
            <p:ph idx="1" type="body"/>
          </p:nvPr>
        </p:nvSpPr>
        <p:spPr>
          <a:xfrm>
            <a:off x="311700" y="238075"/>
            <a:ext cx="8520600" cy="3416400"/>
          </a:xfrm>
          <a:prstGeom prst="rect">
            <a:avLst/>
          </a:prstGeom>
        </p:spPr>
        <p:txBody>
          <a:bodyPr anchorCtr="0" anchor="t" bIns="91425" lIns="91425" spcFirstLastPara="1" rIns="91425" wrap="square" tIns="91425">
            <a:normAutofit/>
          </a:bodyPr>
          <a:lstStyle/>
          <a:p>
            <a:pPr indent="0" lvl="0" marL="0" rtl="0" algn="l">
              <a:lnSpc>
                <a:spcPct val="105000"/>
              </a:lnSpc>
              <a:spcBef>
                <a:spcPts val="1200"/>
              </a:spcBef>
              <a:spcAft>
                <a:spcPts val="0"/>
              </a:spcAft>
              <a:buClr>
                <a:schemeClr val="dk1"/>
              </a:buClr>
              <a:buSzPts val="605"/>
              <a:buFont typeface="Arial"/>
              <a:buNone/>
            </a:pPr>
            <a:r>
              <a:rPr b="1" lang="en" sz="1405">
                <a:solidFill>
                  <a:schemeClr val="dk1"/>
                </a:solidFill>
                <a:latin typeface="Times New Roman"/>
                <a:ea typeface="Times New Roman"/>
                <a:cs typeface="Times New Roman"/>
                <a:sym typeface="Times New Roman"/>
              </a:rPr>
              <a:t>7.3 Visual Elements to Insert:</a:t>
            </a:r>
            <a:endParaRPr b="1" sz="1405">
              <a:solidFill>
                <a:schemeClr val="dk1"/>
              </a:solidFill>
              <a:latin typeface="Times New Roman"/>
              <a:ea typeface="Times New Roman"/>
              <a:cs typeface="Times New Roman"/>
              <a:sym typeface="Times New Roman"/>
            </a:endParaRPr>
          </a:p>
          <a:p>
            <a:pPr indent="-317817" lvl="0" marL="457200" rtl="0" algn="l">
              <a:lnSpc>
                <a:spcPct val="105000"/>
              </a:lnSpc>
              <a:spcBef>
                <a:spcPts val="1200"/>
              </a:spcBef>
              <a:spcAft>
                <a:spcPts val="0"/>
              </a:spcAft>
              <a:buClr>
                <a:schemeClr val="dk1"/>
              </a:buClr>
              <a:buSzPts val="1405"/>
              <a:buFont typeface="Times New Roman"/>
              <a:buChar char="●"/>
            </a:pPr>
            <a:r>
              <a:rPr lang="en" sz="1405">
                <a:solidFill>
                  <a:schemeClr val="dk1"/>
                </a:solidFill>
                <a:latin typeface="Times New Roman"/>
                <a:ea typeface="Times New Roman"/>
                <a:cs typeface="Times New Roman"/>
                <a:sym typeface="Times New Roman"/>
              </a:rPr>
              <a:t>A summary graphic (tick/check icons for conclusions, lightbulb/idea icons for recommendations).</a:t>
            </a:r>
            <a:br>
              <a:rPr lang="en" sz="1405">
                <a:solidFill>
                  <a:schemeClr val="dk1"/>
                </a:solidFill>
                <a:latin typeface="Times New Roman"/>
                <a:ea typeface="Times New Roman"/>
                <a:cs typeface="Times New Roman"/>
                <a:sym typeface="Times New Roman"/>
              </a:rPr>
            </a:br>
            <a:endParaRPr sz="1405">
              <a:solidFill>
                <a:schemeClr val="dk1"/>
              </a:solidFill>
              <a:latin typeface="Times New Roman"/>
              <a:ea typeface="Times New Roman"/>
              <a:cs typeface="Times New Roman"/>
              <a:sym typeface="Times New Roman"/>
            </a:endParaRPr>
          </a:p>
          <a:p>
            <a:pPr indent="-317817" lvl="0" marL="457200" rtl="0" algn="l">
              <a:lnSpc>
                <a:spcPct val="105000"/>
              </a:lnSpc>
              <a:spcBef>
                <a:spcPts val="0"/>
              </a:spcBef>
              <a:spcAft>
                <a:spcPts val="0"/>
              </a:spcAft>
              <a:buClr>
                <a:schemeClr val="dk1"/>
              </a:buClr>
              <a:buSzPts val="1405"/>
              <a:buFont typeface="Times New Roman"/>
              <a:buChar char="●"/>
            </a:pPr>
            <a:r>
              <a:rPr lang="en" sz="1405">
                <a:solidFill>
                  <a:schemeClr val="dk1"/>
                </a:solidFill>
                <a:latin typeface="Times New Roman"/>
                <a:ea typeface="Times New Roman"/>
                <a:cs typeface="Times New Roman"/>
                <a:sym typeface="Times New Roman"/>
              </a:rPr>
              <a:t>Optional: small chart snapshots (trends or heatmap) as supporting visuals.</a:t>
            </a:r>
            <a:endParaRPr sz="1405">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sz="25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6"/>
          <p:cNvSpPr txBox="1"/>
          <p:nvPr>
            <p:ph idx="1" type="body"/>
          </p:nvPr>
        </p:nvSpPr>
        <p:spPr>
          <a:xfrm>
            <a:off x="311700" y="231900"/>
            <a:ext cx="8520600" cy="43371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b="1" sz="8000" u="sng">
              <a:latin typeface="Times New Roman"/>
              <a:ea typeface="Times New Roman"/>
              <a:cs typeface="Times New Roman"/>
              <a:sym typeface="Times New Roman"/>
            </a:endParaRPr>
          </a:p>
          <a:p>
            <a:pPr indent="0" lvl="0" marL="0" rtl="0" algn="ctr">
              <a:spcBef>
                <a:spcPts val="1200"/>
              </a:spcBef>
              <a:spcAft>
                <a:spcPts val="1200"/>
              </a:spcAft>
              <a:buNone/>
            </a:pPr>
            <a:r>
              <a:rPr b="1" lang="en" sz="8000" u="sng">
                <a:latin typeface="Times New Roman"/>
                <a:ea typeface="Times New Roman"/>
                <a:cs typeface="Times New Roman"/>
                <a:sym typeface="Times New Roman"/>
              </a:rPr>
              <a:t>Thank You</a:t>
            </a:r>
            <a:endParaRPr b="1" sz="8000" u="sng">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